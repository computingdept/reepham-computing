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72" r:id="rId5"/>
    <p:sldId id="293" r:id="rId6"/>
    <p:sldId id="282" r:id="rId7"/>
    <p:sldId id="283" r:id="rId8"/>
    <p:sldId id="290" r:id="rId9"/>
    <p:sldId id="292" r:id="rId10"/>
    <p:sldId id="294" r:id="rId11"/>
    <p:sldId id="295" r:id="rId12"/>
    <p:sldId id="269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587A"/>
    <a:srgbClr val="9CC1B5"/>
    <a:srgbClr val="C1D9D1"/>
    <a:srgbClr val="FFFFCC"/>
    <a:srgbClr val="006A4C"/>
    <a:srgbClr val="7F6A93"/>
    <a:srgbClr val="3E003E"/>
    <a:srgbClr val="DAEAE0"/>
    <a:srgbClr val="569B88"/>
    <a:srgbClr val="D1C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CA372-71FA-CC56-FB9A-C2CB265C7C86}" v="5" dt="2025-10-12T11:19:32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me Thompson" userId="S::jthompson@reephamhigh.org.uk::4f107d6c-b8c4-4a9a-838b-373d44ae3199" providerId="AD" clId="Web-{265CA372-71FA-CC56-FB9A-C2CB265C7C86}"/>
    <pc:docChg chg="modSld">
      <pc:chgData name="Jerome Thompson" userId="S::jthompson@reephamhigh.org.uk::4f107d6c-b8c4-4a9a-838b-373d44ae3199" providerId="AD" clId="Web-{265CA372-71FA-CC56-FB9A-C2CB265C7C86}" dt="2025-10-12T11:19:32.200" v="2" actId="20577"/>
      <pc:docMkLst>
        <pc:docMk/>
      </pc:docMkLst>
      <pc:sldChg chg="modSp">
        <pc:chgData name="Jerome Thompson" userId="S::jthompson@reephamhigh.org.uk::4f107d6c-b8c4-4a9a-838b-373d44ae3199" providerId="AD" clId="Web-{265CA372-71FA-CC56-FB9A-C2CB265C7C86}" dt="2025-10-12T11:19:32.200" v="2" actId="20577"/>
        <pc:sldMkLst>
          <pc:docMk/>
          <pc:sldMk cId="1276953553" sldId="290"/>
        </pc:sldMkLst>
        <pc:spChg chg="mod">
          <ac:chgData name="Jerome Thompson" userId="S::jthompson@reephamhigh.org.uk::4f107d6c-b8c4-4a9a-838b-373d44ae3199" providerId="AD" clId="Web-{265CA372-71FA-CC56-FB9A-C2CB265C7C86}" dt="2025-10-12T11:19:32.200" v="2" actId="20577"/>
          <ac:spMkLst>
            <pc:docMk/>
            <pc:sldMk cId="1276953553" sldId="290"/>
            <ac:spMk id="30" creationId="{E8499EF5-4A08-1463-A15B-E41A02B62EA8}"/>
          </ac:spMkLst>
        </pc:spChg>
      </pc:sldChg>
      <pc:sldChg chg="modSp">
        <pc:chgData name="Jerome Thompson" userId="S::jthompson@reephamhigh.org.uk::4f107d6c-b8c4-4a9a-838b-373d44ae3199" providerId="AD" clId="Web-{265CA372-71FA-CC56-FB9A-C2CB265C7C86}" dt="2025-10-12T11:19:16.793" v="1" actId="20577"/>
        <pc:sldMkLst>
          <pc:docMk/>
          <pc:sldMk cId="4237146122" sldId="292"/>
        </pc:sldMkLst>
        <pc:spChg chg="mod">
          <ac:chgData name="Jerome Thompson" userId="S::jthompson@reephamhigh.org.uk::4f107d6c-b8c4-4a9a-838b-373d44ae3199" providerId="AD" clId="Web-{265CA372-71FA-CC56-FB9A-C2CB265C7C86}" dt="2025-10-12T11:19:16.793" v="1" actId="20577"/>
          <ac:spMkLst>
            <pc:docMk/>
            <pc:sldMk cId="4237146122" sldId="292"/>
            <ac:spMk id="2" creationId="{B1225F4A-6B13-319F-EDD5-514B6891C68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5C777-F955-4B11-85EF-033529863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F2B2F-A92E-46B4-9E15-A6A9D365F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B104-792C-4978-B6A9-07FC550E31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E689-54D7-4E87-8D1F-B6298DD00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16D-3B6B-4CA1-977B-687D4D74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B57C-B10F-4871-A4D3-586A13C53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16758-EAD6-4A71-A8FD-CCC27153C41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04024-520A-4FA2-A6CD-537239085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74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695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960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125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Learners complete 10 minutes silent working to make short notes in books or e-books.</a:t>
            </a:r>
          </a:p>
          <a:p>
            <a:endParaRPr/>
          </a:p>
          <a:p>
            <a:r>
              <a:t>Cognitive science rationale: when learners actively write down or think about something, they are more likely to remember it later.</a:t>
            </a:r>
          </a:p>
          <a:p>
            <a:endParaRPr/>
          </a:p>
          <a:p>
            <a:r>
              <a:t>This period encourages focus, retrieval practice, and self-explanation — all linked to better long-term retention.</a:t>
            </a:r>
          </a:p>
          <a:p>
            <a:endParaRPr/>
          </a:p>
          <a:p>
            <a:r>
              <a:t>After the silent working, learners will complete a formative quiz on the key words to familiarise themselves with the content of the lesson.</a:t>
            </a:r>
          </a:p>
          <a:p>
            <a:endParaRPr/>
          </a:p>
          <a:p>
            <a:r>
              <a:t>EEF evidence: The Teaching and Learning Toolkit highlights that metacognition and self-regulation (e.g., summarising, note-making, retrieval) can add +7 months of progress when embedded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 Scienc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E4E071-A5ED-7FA2-B941-6B3D19A62717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2516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2">
            <a:extLst>
              <a:ext uri="{FF2B5EF4-FFF2-40B4-BE49-F238E27FC236}">
                <a16:creationId xmlns:a16="http://schemas.microsoft.com/office/drawing/2014/main" id="{ABC7C60A-21C0-C46F-AF62-3A70277B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7583BF-CB5B-480C-212A-68654FBA8AE5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83544672-6F1F-FB05-EC77-01E20EF3FF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746B2A39-90FD-7EA0-7E4B-1486AF0FD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B3D9F8A3-F5FA-2710-4C2D-15B4BE81F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7B5D19A-DF34-A2CD-E63C-ED7613E305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24" name="Graphic 23" descr="Lightbulb and gear">
            <a:extLst>
              <a:ext uri="{FF2B5EF4-FFF2-40B4-BE49-F238E27FC236}">
                <a16:creationId xmlns:a16="http://schemas.microsoft.com/office/drawing/2014/main" id="{4E163FE9-800E-1B25-73A1-6601DEE08E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8ADE9D20-775C-C802-87A8-D5D93BCA0A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73151FBD-4681-3AB8-1A3D-C86ED3B7C2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36" name="Graphic 35" descr="Key">
            <a:extLst>
              <a:ext uri="{FF2B5EF4-FFF2-40B4-BE49-F238E27FC236}">
                <a16:creationId xmlns:a16="http://schemas.microsoft.com/office/drawing/2014/main" id="{8A409B86-7E12-70DA-8F91-D6709992C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1430892-FE2D-4C4C-5085-654525FA40D9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9.1 BINARY, BITMAPS &amp; Beyond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CCD8B-D9F0-2100-3326-104074AEBF7C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6A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Computer Science </a:t>
            </a:r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14DC87E9-701C-02DE-D9AF-71A5B819D3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Technology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8" y="89529"/>
            <a:ext cx="8122515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accent1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F93188-CCBA-B877-D46E-928F82DED82F}"/>
              </a:ext>
            </a:extLst>
          </p:cNvPr>
          <p:cNvCxnSpPr>
            <a:cxnSpLocks/>
          </p:cNvCxnSpPr>
          <p:nvPr userDrawn="1"/>
        </p:nvCxnSpPr>
        <p:spPr>
          <a:xfrm>
            <a:off x="840508" y="572071"/>
            <a:ext cx="8121494" cy="177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4A250323-FFCF-FCA6-DE9D-0DC17484410F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55DBC8CD-A632-03D1-7C74-0C8998837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6DF2579E-08EC-C970-5C55-E6BBBC124A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3A0DE0D7-B7B1-3642-50DE-3CBF3059CF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DE03672B-0083-C11B-F252-D8829AFF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49" name="Graphic 48" descr="Lightbulb and gear">
            <a:extLst>
              <a:ext uri="{FF2B5EF4-FFF2-40B4-BE49-F238E27FC236}">
                <a16:creationId xmlns:a16="http://schemas.microsoft.com/office/drawing/2014/main" id="{76A6CA63-CF50-73E7-7606-DDDA11E906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50" name="Graphic 49" descr="Lightbulb and gear">
            <a:extLst>
              <a:ext uri="{FF2B5EF4-FFF2-40B4-BE49-F238E27FC236}">
                <a16:creationId xmlns:a16="http://schemas.microsoft.com/office/drawing/2014/main" id="{589701BB-333D-0904-2D27-EEDDD9F0B6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1D2D09CF-4CBB-5EB1-666B-27B2692B2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52" name="Graphic 51" descr="Key">
            <a:extLst>
              <a:ext uri="{FF2B5EF4-FFF2-40B4-BE49-F238E27FC236}">
                <a16:creationId xmlns:a16="http://schemas.microsoft.com/office/drawing/2014/main" id="{3140F46D-F29D-4991-3657-F48D729696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CDC3DE9-E720-CA7D-E04D-91B4CFC61E60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9.1 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88A44-38AE-E7B4-6E89-8AB460EB8CFD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Information Technology </a:t>
            </a:r>
            <a:r>
              <a:rPr lang="en-GB" sz="1600" b="0" kern="1200" spc="300">
                <a:solidFill>
                  <a:schemeClr val="accent1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2DA97A1F-0F1F-A05E-9AE8-34E568428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Literacy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1492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3F71-44F9-FC9D-A6A7-F0A6B2E7ED5C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A17AAE5-43DC-EB1F-24F3-4BA6BB18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F3B6411-5F47-5742-4856-3DEBEAC11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175EA55-93EB-425B-AD43-3D0CB8A1E1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96D4149-1F6D-0F63-0FE1-EB173E6A5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EF10083E-FE3F-5671-6D6C-5DBE25AB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F369106B-45B8-D8B0-C783-E6776F820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E6F5A45-3000-5968-C5D8-1AE5D2C32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30C285F6-426A-C1EB-E37E-05D3B416C5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0E48FA-CA1F-C773-8A51-2B17AEAD1971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9.1 BINARY, BITMAPS &amp; Beyond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5159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8521041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A5D7AB-0872-4921-8ECD-C0B285539211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D1DFE3C3-567F-C3B9-5973-C1444EB20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A7015D62-A861-7A29-7930-18A4092AEA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1D8C83A-FD62-C374-BAAF-029F25BD9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4171082B-C598-9F9E-7C86-A0B252985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FB17DD32-0160-A34A-A979-FD71112F19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E47F7F0F-D9D7-E029-C0A8-AB4B7331B4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9D8E8891-285C-FC80-4489-1A82549131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0B11F6A0-4496-696B-2E38-027FD12E58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2B28E-7E33-9F12-1A55-A7BCF24D5CF2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Digital Systems &amp; Media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873" y="5426498"/>
            <a:ext cx="1495425" cy="14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microsoft.com/office/2007/relationships/hdphoto" Target="../media/hdphoto3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>
                <a:latin typeface="Daytona" panose="020B0604030500040204" pitchFamily="34" charset="0"/>
              </a:rPr>
              <a:t>Do Now</a:t>
            </a:r>
          </a:p>
          <a:p>
            <a:pPr marL="0" indent="0">
              <a:buNone/>
            </a:pPr>
            <a:r>
              <a:rPr lang="en-GB" sz="2200">
                <a:latin typeface="Daytona" panose="020B0604030500040204" pitchFamily="34" charset="0"/>
              </a:rPr>
              <a:t>Complete in your booklet: </a:t>
            </a:r>
            <a:r>
              <a:rPr lang="en-GB" sz="2200" b="1">
                <a:latin typeface="Daytona" panose="020B0604030500040204" pitchFamily="34" charset="0"/>
              </a:rPr>
              <a:t>Do Now 3</a:t>
            </a:r>
          </a:p>
          <a:p>
            <a:pPr marL="0" indent="0">
              <a:buNone/>
            </a:pPr>
            <a:endParaRPr lang="en-GB" sz="2200" b="1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400" b="1">
                <a:latin typeface="Daytona" panose="020B0604030500040204" pitchFamily="34" charset="0"/>
              </a:rPr>
              <a:t>Homework</a:t>
            </a:r>
            <a:endParaRPr lang="en-GB" sz="2200" b="1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200">
                <a:latin typeface="Daytona" panose="020B0604030500040204" pitchFamily="34" charset="0"/>
              </a:rPr>
              <a:t>This will be set fortnightly on Quizizz, deadline details can be found on Arbor.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4999450"/>
            <a:ext cx="2251216" cy="1274896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9" name="Picture 8" descr="A computer screen with text&#10;&#10;Description automatically generated with medium confidence">
            <a:extLst>
              <a:ext uri="{FF2B5EF4-FFF2-40B4-BE49-F238E27FC236}">
                <a16:creationId xmlns:a16="http://schemas.microsoft.com/office/drawing/2014/main" id="{CAA6E57D-EFD9-3546-396B-CB893B230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522" y="698185"/>
            <a:ext cx="1803503" cy="1660595"/>
          </a:xfrm>
          <a:prstGeom prst="roundRect">
            <a:avLst/>
          </a:prstGeom>
        </p:spPr>
      </p:pic>
      <p:pic>
        <p:nvPicPr>
          <p:cNvPr id="10" name="Picture 4" descr="新學科網">
            <a:extLst>
              <a:ext uri="{FF2B5EF4-FFF2-40B4-BE49-F238E27FC236}">
                <a16:creationId xmlns:a16="http://schemas.microsoft.com/office/drawing/2014/main" id="{327BA58B-D3A5-4544-AFE6-CF9B0668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831" y="4004210"/>
            <a:ext cx="2705849" cy="175880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50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>
                <a:latin typeface="Daytona" panose="020B0604030500040204" pitchFamily="34" charset="0"/>
              </a:rPr>
              <a:t>Review Now 3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The function of the RAM is to store start up programs. </a:t>
            </a:r>
            <a:br>
              <a:rPr lang="en-GB" sz="2200">
                <a:latin typeface="Daytona" panose="020B0604030500040204" pitchFamily="34" charset="0"/>
              </a:rPr>
            </a:br>
            <a:r>
              <a:rPr lang="en-GB" sz="2200">
                <a:latin typeface="Daytona" panose="020B0604030500040204" pitchFamily="34" charset="0"/>
              </a:rPr>
              <a:t>b – False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What does the ‘subject’ mean in an email?</a:t>
            </a:r>
            <a:br>
              <a:rPr lang="en-GB" sz="2200">
                <a:latin typeface="Daytona" panose="020B0604030500040204" pitchFamily="34" charset="0"/>
              </a:rPr>
            </a:br>
            <a:r>
              <a:rPr lang="en-GB" sz="2200">
                <a:latin typeface="Daytona" panose="020B0604030500040204" pitchFamily="34" charset="0"/>
              </a:rPr>
              <a:t>d – Brief summary or topic of the email content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 </a:t>
            </a: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endParaRPr lang="en-GB" sz="220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 </a:t>
            </a:r>
          </a:p>
          <a:p>
            <a:pPr marL="0" indent="0">
              <a:buNone/>
            </a:pPr>
            <a:endParaRPr lang="en-GB" sz="2200">
              <a:latin typeface="Daytona" panose="020B0604030500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4999450"/>
            <a:ext cx="2251216" cy="1274896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D04AD5-564B-7B55-28E5-56154A90C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45291"/>
              </p:ext>
            </p:extLst>
          </p:nvPr>
        </p:nvGraphicFramePr>
        <p:xfrm>
          <a:off x="1552573" y="4067210"/>
          <a:ext cx="7200904" cy="21888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00452">
                  <a:extLst>
                    <a:ext uri="{9D8B030D-6E8A-4147-A177-3AD203B41FA5}">
                      <a16:colId xmlns:a16="http://schemas.microsoft.com/office/drawing/2014/main" val="3843305629"/>
                    </a:ext>
                  </a:extLst>
                </a:gridCol>
                <a:gridCol w="3600452">
                  <a:extLst>
                    <a:ext uri="{9D8B030D-6E8A-4147-A177-3AD203B41FA5}">
                      <a16:colId xmlns:a16="http://schemas.microsoft.com/office/drawing/2014/main" val="1945544437"/>
                    </a:ext>
                  </a:extLst>
                </a:gridCol>
              </a:tblGrid>
              <a:tr h="4014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RAM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ROM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567841"/>
                  </a:ext>
                </a:extLst>
              </a:tr>
              <a:tr h="6929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Stores the data and programs that you are currently running.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Stores a program to start up the computer.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089819"/>
                  </a:ext>
                </a:extLst>
              </a:tr>
              <a:tr h="4014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Read &amp; Write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Read Only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070871"/>
                  </a:ext>
                </a:extLst>
              </a:tr>
              <a:tr h="6929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Volatile – Data is wiped when it loses power.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Non-Volatile Data is not lost. 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90480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BFEB39B-A52A-3B6C-58C1-A06A35745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00" y="2607712"/>
            <a:ext cx="6408407" cy="133338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DD2713-E2D2-AEA9-825F-C2D44465DB6D}"/>
              </a:ext>
            </a:extLst>
          </p:cNvPr>
          <p:cNvCxnSpPr>
            <a:cxnSpLocks/>
          </p:cNvCxnSpPr>
          <p:nvPr/>
        </p:nvCxnSpPr>
        <p:spPr>
          <a:xfrm>
            <a:off x="4438438" y="2866490"/>
            <a:ext cx="1524000" cy="794976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B2512C-659A-B4FC-2440-4DD29626FB6C}"/>
              </a:ext>
            </a:extLst>
          </p:cNvPr>
          <p:cNvCxnSpPr>
            <a:cxnSpLocks/>
          </p:cNvCxnSpPr>
          <p:nvPr/>
        </p:nvCxnSpPr>
        <p:spPr>
          <a:xfrm>
            <a:off x="4438438" y="3205054"/>
            <a:ext cx="1524000" cy="5892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E0789F-C0B9-CA1D-65A6-48D934D6C4DB}"/>
              </a:ext>
            </a:extLst>
          </p:cNvPr>
          <p:cNvCxnSpPr>
            <a:cxnSpLocks/>
          </p:cNvCxnSpPr>
          <p:nvPr/>
        </p:nvCxnSpPr>
        <p:spPr>
          <a:xfrm flipV="1">
            <a:off x="4441863" y="2866490"/>
            <a:ext cx="1520575" cy="74274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87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Flashback Icons - Free SVG &amp; PNG Flashback Images - Noun Project">
            <a:extLst>
              <a:ext uri="{FF2B5EF4-FFF2-40B4-BE49-F238E27FC236}">
                <a16:creationId xmlns:a16="http://schemas.microsoft.com/office/drawing/2014/main" id="{452B24AB-F52D-D7DA-8C5B-1F77CD445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02" y="572071"/>
            <a:ext cx="996208" cy="9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4CF353A9-494A-284F-5CFC-FBE23C8F1F05}"/>
              </a:ext>
            </a:extLst>
          </p:cNvPr>
          <p:cNvSpPr txBox="1">
            <a:spLocks/>
          </p:cNvSpPr>
          <p:nvPr/>
        </p:nvSpPr>
        <p:spPr>
          <a:xfrm>
            <a:off x="1919510" y="872992"/>
            <a:ext cx="2561426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Flashback</a:t>
            </a:r>
          </a:p>
        </p:txBody>
      </p:sp>
      <p:grpSp>
        <p:nvGrpSpPr>
          <p:cNvPr id="44" name="Google Shape;88;p8">
            <a:extLst>
              <a:ext uri="{FF2B5EF4-FFF2-40B4-BE49-F238E27FC236}">
                <a16:creationId xmlns:a16="http://schemas.microsoft.com/office/drawing/2014/main" id="{D9B51B01-E7AC-E3E5-14CF-17325DCD72E6}"/>
              </a:ext>
            </a:extLst>
          </p:cNvPr>
          <p:cNvGrpSpPr/>
          <p:nvPr/>
        </p:nvGrpSpPr>
        <p:grpSpPr>
          <a:xfrm>
            <a:off x="1205225" y="2291505"/>
            <a:ext cx="7948907" cy="1600953"/>
            <a:chOff x="585250" y="2754200"/>
            <a:chExt cx="5910850" cy="2988700"/>
          </a:xfrm>
          <a:solidFill>
            <a:srgbClr val="D1CAD8"/>
          </a:solidFill>
        </p:grpSpPr>
        <p:sp>
          <p:nvSpPr>
            <p:cNvPr id="45" name="Google Shape;89;p8">
              <a:extLst>
                <a:ext uri="{FF2B5EF4-FFF2-40B4-BE49-F238E27FC236}">
                  <a16:creationId xmlns:a16="http://schemas.microsoft.com/office/drawing/2014/main" id="{FB8EDF1B-CDAE-BA59-7CF4-EAB638F70A84}"/>
                </a:ext>
              </a:extLst>
            </p:cNvPr>
            <p:cNvSpPr/>
            <p:nvPr/>
          </p:nvSpPr>
          <p:spPr>
            <a:xfrm>
              <a:off x="585250" y="2754200"/>
              <a:ext cx="1584300" cy="1026944"/>
            </a:xfrm>
            <a:prstGeom prst="rect">
              <a:avLst/>
            </a:prstGeom>
            <a:solidFill>
              <a:srgbClr val="D1CAD8"/>
            </a:solidFill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 dirty="0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Input</a:t>
              </a:r>
              <a:endParaRPr sz="2200" dirty="0">
                <a:latin typeface="Daytona" panose="020B0604030500040204" pitchFamily="34" charset="0"/>
              </a:endParaRPr>
            </a:p>
          </p:txBody>
        </p:sp>
        <p:sp>
          <p:nvSpPr>
            <p:cNvPr id="46" name="Google Shape;90;p8">
              <a:extLst>
                <a:ext uri="{FF2B5EF4-FFF2-40B4-BE49-F238E27FC236}">
                  <a16:creationId xmlns:a16="http://schemas.microsoft.com/office/drawing/2014/main" id="{C90CD97B-7E00-7A2C-8600-A8CB316DAA0E}"/>
                </a:ext>
              </a:extLst>
            </p:cNvPr>
            <p:cNvSpPr/>
            <p:nvPr/>
          </p:nvSpPr>
          <p:spPr>
            <a:xfrm>
              <a:off x="2748525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Process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7" name="Google Shape;91;p8">
              <a:extLst>
                <a:ext uri="{FF2B5EF4-FFF2-40B4-BE49-F238E27FC236}">
                  <a16:creationId xmlns:a16="http://schemas.microsoft.com/office/drawing/2014/main" id="{072C24E3-8130-A319-0B1C-5762BFFC664A}"/>
                </a:ext>
              </a:extLst>
            </p:cNvPr>
            <p:cNvSpPr/>
            <p:nvPr/>
          </p:nvSpPr>
          <p:spPr>
            <a:xfrm>
              <a:off x="4911800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Output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8" name="Google Shape;92;p8">
              <a:extLst>
                <a:ext uri="{FF2B5EF4-FFF2-40B4-BE49-F238E27FC236}">
                  <a16:creationId xmlns:a16="http://schemas.microsoft.com/office/drawing/2014/main" id="{B414B390-9C88-3522-30C8-08B826286539}"/>
                </a:ext>
              </a:extLst>
            </p:cNvPr>
            <p:cNvSpPr/>
            <p:nvPr/>
          </p:nvSpPr>
          <p:spPr>
            <a:xfrm>
              <a:off x="2748525" y="4638896"/>
              <a:ext cx="1584300" cy="110400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>
                  <a:solidFill>
                    <a:srgbClr val="000000"/>
                  </a:solidFill>
                  <a:latin typeface="Daytona"/>
                  <a:sym typeface="Cantarell"/>
                </a:rPr>
                <a:t>Memory</a:t>
              </a:r>
              <a:endParaRPr sz="2200">
                <a:latin typeface="Daytona" panose="020B0604030500040204" pitchFamily="34" charset="0"/>
              </a:endParaRPr>
            </a:p>
          </p:txBody>
        </p:sp>
        <p:cxnSp>
          <p:nvCxnSpPr>
            <p:cNvPr id="49" name="Google Shape;93;p8">
              <a:extLst>
                <a:ext uri="{FF2B5EF4-FFF2-40B4-BE49-F238E27FC236}">
                  <a16:creationId xmlns:a16="http://schemas.microsoft.com/office/drawing/2014/main" id="{4666861F-C42D-B464-9F00-6A2888205F5C}"/>
                </a:ext>
              </a:extLst>
            </p:cNvPr>
            <p:cNvCxnSpPr>
              <a:cxnSpLocks/>
              <a:stCxn id="45" idx="3"/>
              <a:endCxn id="46" idx="1"/>
            </p:cNvCxnSpPr>
            <p:nvPr/>
          </p:nvCxnSpPr>
          <p:spPr>
            <a:xfrm>
              <a:off x="2169550" y="3267673"/>
              <a:ext cx="578975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0" name="Google Shape;94;p8">
              <a:extLst>
                <a:ext uri="{FF2B5EF4-FFF2-40B4-BE49-F238E27FC236}">
                  <a16:creationId xmlns:a16="http://schemas.microsoft.com/office/drawing/2014/main" id="{69AA3970-C8E9-337E-D41E-F578B15E02DF}"/>
                </a:ext>
              </a:extLst>
            </p:cNvPr>
            <p:cNvCxnSpPr/>
            <p:nvPr/>
          </p:nvCxnSpPr>
          <p:spPr>
            <a:xfrm>
              <a:off x="4332825" y="3377000"/>
              <a:ext cx="579000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1" name="Google Shape;95;p8">
              <a:extLst>
                <a:ext uri="{FF2B5EF4-FFF2-40B4-BE49-F238E27FC236}">
                  <a16:creationId xmlns:a16="http://schemas.microsoft.com/office/drawing/2014/main" id="{8BDE4096-0296-A3E0-D242-389700FAFCDA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75" y="3781144"/>
              <a:ext cx="0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2" name="Google Shape;96;p8">
              <a:extLst>
                <a:ext uri="{FF2B5EF4-FFF2-40B4-BE49-F238E27FC236}">
                  <a16:creationId xmlns:a16="http://schemas.microsoft.com/office/drawing/2014/main" id="{EC9ECA26-7B89-57BA-EFA0-CC3EC16EC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9802" y="3781144"/>
              <a:ext cx="1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sp>
        <p:nvSpPr>
          <p:cNvPr id="12" name="Title 2">
            <a:extLst>
              <a:ext uri="{FF2B5EF4-FFF2-40B4-BE49-F238E27FC236}">
                <a16:creationId xmlns:a16="http://schemas.microsoft.com/office/drawing/2014/main" id="{E0923E27-A7F5-7ACB-0B41-0F1FDFF0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16CE024-44A0-6CB3-9849-ECA0644AB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24597AC-F809-22C9-6539-3D6782B32E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EEA7D61-5C0C-4A2D-B1BE-FDBEA8B40A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B565C20-5D8C-9D45-DB37-9A8250557F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C40D77-714D-AD3F-B0D3-C6300F507A93}"/>
              </a:ext>
            </a:extLst>
          </p:cNvPr>
          <p:cNvSpPr/>
          <p:nvPr/>
        </p:nvSpPr>
        <p:spPr>
          <a:xfrm>
            <a:off x="5411373" y="699039"/>
            <a:ext cx="3059222" cy="1171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Daytona"/>
                <a:cs typeface="Segoe UI"/>
              </a:rPr>
              <a:t>Instructions and data are processed by the CPU. </a:t>
            </a:r>
            <a:endParaRPr lang="en-GB" sz="2200">
              <a:solidFill>
                <a:schemeClr val="tx1"/>
              </a:solidFill>
              <a:latin typeface="Daytona"/>
              <a:cs typeface="Segoe UI"/>
            </a:endParaRPr>
          </a:p>
        </p:txBody>
      </p:sp>
      <p:pic>
        <p:nvPicPr>
          <p:cNvPr id="18" name="Picture 4" descr="See the source image">
            <a:extLst>
              <a:ext uri="{FF2B5EF4-FFF2-40B4-BE49-F238E27FC236}">
                <a16:creationId xmlns:a16="http://schemas.microsoft.com/office/drawing/2014/main" id="{3A952318-C650-210A-B4FB-FBE3D0CA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7138" flipH="1">
            <a:off x="5253070" y="1433947"/>
            <a:ext cx="727090" cy="79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B99545D-2F5E-FEAE-A88B-8A1631D56D48}"/>
              </a:ext>
            </a:extLst>
          </p:cNvPr>
          <p:cNvSpPr/>
          <p:nvPr/>
        </p:nvSpPr>
        <p:spPr>
          <a:xfrm>
            <a:off x="972153" y="4191420"/>
            <a:ext cx="7498442" cy="1171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Daytona"/>
                <a:cs typeface="Segoe UI"/>
              </a:rPr>
              <a:t>CPU is an acronym for:</a:t>
            </a:r>
          </a:p>
          <a:p>
            <a:pPr algn="ctr"/>
            <a:r>
              <a:rPr lang="en-US" sz="3600" b="1">
                <a:solidFill>
                  <a:schemeClr val="tx1"/>
                </a:solidFill>
                <a:latin typeface="Daytona"/>
                <a:cs typeface="Segoe UI"/>
              </a:rPr>
              <a:t>C</a:t>
            </a:r>
            <a:r>
              <a:rPr lang="en-US" sz="3600">
                <a:solidFill>
                  <a:schemeClr val="tx1"/>
                </a:solidFill>
                <a:latin typeface="Daytona"/>
                <a:cs typeface="Segoe UI"/>
              </a:rPr>
              <a:t>entral </a:t>
            </a:r>
            <a:r>
              <a:rPr lang="en-US" sz="3600" b="1">
                <a:solidFill>
                  <a:schemeClr val="tx1"/>
                </a:solidFill>
                <a:latin typeface="Daytona"/>
                <a:cs typeface="Segoe UI"/>
              </a:rPr>
              <a:t>P</a:t>
            </a:r>
            <a:r>
              <a:rPr lang="en-US" sz="3600">
                <a:solidFill>
                  <a:schemeClr val="tx1"/>
                </a:solidFill>
                <a:latin typeface="Daytona"/>
                <a:cs typeface="Segoe UI"/>
              </a:rPr>
              <a:t>rocessing </a:t>
            </a:r>
            <a:r>
              <a:rPr lang="en-US" sz="3600" b="1">
                <a:solidFill>
                  <a:schemeClr val="tx1"/>
                </a:solidFill>
                <a:latin typeface="Daytona"/>
                <a:cs typeface="Segoe UI"/>
              </a:rPr>
              <a:t>U</a:t>
            </a:r>
            <a:r>
              <a:rPr lang="en-US" sz="3600">
                <a:solidFill>
                  <a:schemeClr val="tx1"/>
                </a:solidFill>
                <a:latin typeface="Daytona"/>
                <a:cs typeface="Segoe UI"/>
              </a:rPr>
              <a:t>nit</a:t>
            </a:r>
            <a:endParaRPr lang="en-GB" sz="3600">
              <a:solidFill>
                <a:schemeClr val="tx1"/>
              </a:solidFill>
              <a:latin typeface="Dayto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7083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E9BB0800-AD84-FD35-07F5-AC4269B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89AA196-B577-AAF6-6E22-4920BEE808A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grpSp>
        <p:nvGrpSpPr>
          <p:cNvPr id="2" name="Google Shape;146;p12">
            <a:extLst>
              <a:ext uri="{FF2B5EF4-FFF2-40B4-BE49-F238E27FC236}">
                <a16:creationId xmlns:a16="http://schemas.microsoft.com/office/drawing/2014/main" id="{07685463-139C-DF26-0885-DA64CD9FD561}"/>
              </a:ext>
            </a:extLst>
          </p:cNvPr>
          <p:cNvGrpSpPr/>
          <p:nvPr/>
        </p:nvGrpSpPr>
        <p:grpSpPr>
          <a:xfrm>
            <a:off x="4295976" y="1765885"/>
            <a:ext cx="4543124" cy="3834073"/>
            <a:chOff x="700387" y="-51104"/>
            <a:chExt cx="4985063" cy="4576805"/>
          </a:xfrm>
        </p:grpSpPr>
        <p:sp>
          <p:nvSpPr>
            <p:cNvPr id="4" name="Google Shape;147;p12">
              <a:extLst>
                <a:ext uri="{FF2B5EF4-FFF2-40B4-BE49-F238E27FC236}">
                  <a16:creationId xmlns:a16="http://schemas.microsoft.com/office/drawing/2014/main" id="{676AFD79-C2ED-4E50-711E-94F590EEB165}"/>
                </a:ext>
              </a:extLst>
            </p:cNvPr>
            <p:cNvSpPr/>
            <p:nvPr/>
          </p:nvSpPr>
          <p:spPr>
            <a:xfrm>
              <a:off x="3144150" y="876699"/>
              <a:ext cx="2541300" cy="17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49;p12">
              <a:extLst>
                <a:ext uri="{FF2B5EF4-FFF2-40B4-BE49-F238E27FC236}">
                  <a16:creationId xmlns:a16="http://schemas.microsoft.com/office/drawing/2014/main" id="{DF9FF1C1-7E47-0618-7A12-650160F7D776}"/>
                </a:ext>
              </a:extLst>
            </p:cNvPr>
            <p:cNvSpPr/>
            <p:nvPr/>
          </p:nvSpPr>
          <p:spPr>
            <a:xfrm>
              <a:off x="715312" y="150584"/>
              <a:ext cx="4032300" cy="4032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1696" y="73392"/>
                  </a:moveTo>
                  <a:cubicBezTo>
                    <a:pt x="109616" y="81419"/>
                    <a:pt x="105696" y="88851"/>
                    <a:pt x="100246" y="95100"/>
                  </a:cubicBezTo>
                  <a:lnTo>
                    <a:pt x="104464" y="100090"/>
                  </a:lnTo>
                  <a:lnTo>
                    <a:pt x="91278" y="97007"/>
                  </a:lnTo>
                  <a:lnTo>
                    <a:pt x="89558" y="82455"/>
                  </a:lnTo>
                  <a:lnTo>
                    <a:pt x="93766" y="87434"/>
                  </a:lnTo>
                  <a:cubicBezTo>
                    <a:pt x="97703" y="82589"/>
                    <a:pt x="100550" y="76953"/>
                    <a:pt x="102116" y="70910"/>
                  </a:cubicBezTo>
                  <a:close/>
                </a:path>
              </a:pathLst>
            </a:custGeom>
            <a:solidFill>
              <a:srgbClr val="E36C09">
                <a:alpha val="80000"/>
              </a:srgbClr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0;p12">
              <a:extLst>
                <a:ext uri="{FF2B5EF4-FFF2-40B4-BE49-F238E27FC236}">
                  <a16:creationId xmlns:a16="http://schemas.microsoft.com/office/drawing/2014/main" id="{41E15DE1-5236-F4E4-0064-CE708973275B}"/>
                </a:ext>
              </a:extLst>
            </p:cNvPr>
            <p:cNvSpPr/>
            <p:nvPr/>
          </p:nvSpPr>
          <p:spPr>
            <a:xfrm>
              <a:off x="1415601" y="2820501"/>
              <a:ext cx="2384700" cy="17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51;p12">
              <a:extLst>
                <a:ext uri="{FF2B5EF4-FFF2-40B4-BE49-F238E27FC236}">
                  <a16:creationId xmlns:a16="http://schemas.microsoft.com/office/drawing/2014/main" id="{FAF75926-B1FD-4B21-8BD2-364C47F7B082}"/>
                </a:ext>
              </a:extLst>
            </p:cNvPr>
            <p:cNvSpPr txBox="1"/>
            <p:nvPr/>
          </p:nvSpPr>
          <p:spPr>
            <a:xfrm>
              <a:off x="1415601" y="2820501"/>
              <a:ext cx="2384700" cy="17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endParaRPr/>
            </a:p>
          </p:txBody>
        </p:sp>
        <p:sp>
          <p:nvSpPr>
            <p:cNvPr id="8" name="Google Shape;152;p12">
              <a:extLst>
                <a:ext uri="{FF2B5EF4-FFF2-40B4-BE49-F238E27FC236}">
                  <a16:creationId xmlns:a16="http://schemas.microsoft.com/office/drawing/2014/main" id="{B09E3527-8978-103A-3ADF-535EEA5AF8C0}"/>
                </a:ext>
              </a:extLst>
            </p:cNvPr>
            <p:cNvSpPr/>
            <p:nvPr/>
          </p:nvSpPr>
          <p:spPr>
            <a:xfrm>
              <a:off x="817558" y="-51104"/>
              <a:ext cx="4032300" cy="4032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4277" y="87591"/>
                  </a:moveTo>
                  <a:lnTo>
                    <a:pt x="14277" y="87591"/>
                  </a:lnTo>
                  <a:cubicBezTo>
                    <a:pt x="9558" y="79773"/>
                    <a:pt x="6924" y="70875"/>
                    <a:pt x="6625" y="61747"/>
                  </a:cubicBezTo>
                  <a:lnTo>
                    <a:pt x="138" y="60971"/>
                  </a:lnTo>
                  <a:lnTo>
                    <a:pt x="11888" y="54240"/>
                  </a:lnTo>
                  <a:lnTo>
                    <a:pt x="23065" y="63716"/>
                  </a:lnTo>
                  <a:lnTo>
                    <a:pt x="16592" y="62941"/>
                  </a:lnTo>
                  <a:lnTo>
                    <a:pt x="16592" y="62941"/>
                  </a:lnTo>
                  <a:cubicBezTo>
                    <a:pt x="17061" y="69850"/>
                    <a:pt x="19172" y="76549"/>
                    <a:pt x="22750" y="82478"/>
                  </a:cubicBezTo>
                  <a:close/>
                </a:path>
              </a:pathLst>
            </a:custGeom>
            <a:solidFill>
              <a:srgbClr val="E36C09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53;p12">
              <a:extLst>
                <a:ext uri="{FF2B5EF4-FFF2-40B4-BE49-F238E27FC236}">
                  <a16:creationId xmlns:a16="http://schemas.microsoft.com/office/drawing/2014/main" id="{33C0632D-B47E-EC0D-3452-BC507E79787B}"/>
                </a:ext>
              </a:extLst>
            </p:cNvPr>
            <p:cNvSpPr/>
            <p:nvPr/>
          </p:nvSpPr>
          <p:spPr>
            <a:xfrm>
              <a:off x="716643" y="62909"/>
              <a:ext cx="1705200" cy="17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54;p12">
              <a:extLst>
                <a:ext uri="{FF2B5EF4-FFF2-40B4-BE49-F238E27FC236}">
                  <a16:creationId xmlns:a16="http://schemas.microsoft.com/office/drawing/2014/main" id="{6902B1F5-67F9-C8FB-2470-69CE6C98B1FA}"/>
                </a:ext>
              </a:extLst>
            </p:cNvPr>
            <p:cNvSpPr txBox="1"/>
            <p:nvPr/>
          </p:nvSpPr>
          <p:spPr>
            <a:xfrm>
              <a:off x="716643" y="62909"/>
              <a:ext cx="1705200" cy="17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endParaRPr/>
            </a:p>
          </p:txBody>
        </p:sp>
        <p:sp>
          <p:nvSpPr>
            <p:cNvPr id="11" name="Google Shape;155;p12">
              <a:extLst>
                <a:ext uri="{FF2B5EF4-FFF2-40B4-BE49-F238E27FC236}">
                  <a16:creationId xmlns:a16="http://schemas.microsoft.com/office/drawing/2014/main" id="{C565E4F4-687E-71AC-139D-3AC1C48F4D22}"/>
                </a:ext>
              </a:extLst>
            </p:cNvPr>
            <p:cNvSpPr/>
            <p:nvPr/>
          </p:nvSpPr>
          <p:spPr>
            <a:xfrm>
              <a:off x="700387" y="-26190"/>
              <a:ext cx="4032300" cy="4032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499" y="7448"/>
                  </a:moveTo>
                  <a:lnTo>
                    <a:pt x="50499" y="7448"/>
                  </a:lnTo>
                  <a:cubicBezTo>
                    <a:pt x="65809" y="4680"/>
                    <a:pt x="81565" y="8727"/>
                    <a:pt x="93646" y="18529"/>
                  </a:cubicBezTo>
                  <a:lnTo>
                    <a:pt x="98483" y="14137"/>
                  </a:lnTo>
                  <a:lnTo>
                    <a:pt x="95871" y="27425"/>
                  </a:lnTo>
                  <a:lnTo>
                    <a:pt x="81389" y="29660"/>
                  </a:lnTo>
                  <a:lnTo>
                    <a:pt x="86215" y="25278"/>
                  </a:lnTo>
                  <a:lnTo>
                    <a:pt x="86215" y="25278"/>
                  </a:lnTo>
                  <a:cubicBezTo>
                    <a:pt x="76522" y="17960"/>
                    <a:pt x="64211" y="15026"/>
                    <a:pt x="52259" y="17187"/>
                  </a:cubicBezTo>
                  <a:close/>
                </a:path>
              </a:pathLst>
            </a:custGeom>
            <a:solidFill>
              <a:srgbClr val="E36C09">
                <a:alpha val="47450"/>
              </a:srgbClr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65;p12">
            <a:extLst>
              <a:ext uri="{FF2B5EF4-FFF2-40B4-BE49-F238E27FC236}">
                <a16:creationId xmlns:a16="http://schemas.microsoft.com/office/drawing/2014/main" id="{BC64C88A-2054-CFAB-BC5E-FE7F9D6A0945}"/>
              </a:ext>
            </a:extLst>
          </p:cNvPr>
          <p:cNvSpPr txBox="1"/>
          <p:nvPr/>
        </p:nvSpPr>
        <p:spPr>
          <a:xfrm>
            <a:off x="4329131" y="2062797"/>
            <a:ext cx="1751234" cy="142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lang="en-GB" sz="3600" b="1" i="0" u="none" strike="noStrike" cap="none">
                <a:solidFill>
                  <a:srgbClr val="000000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Fetch</a:t>
            </a:r>
            <a:endParaRPr sz="1200">
              <a:latin typeface="Daytona" panose="020B0604030500040204" pitchFamily="34" charset="0"/>
            </a:endParaRPr>
          </a:p>
        </p:txBody>
      </p:sp>
      <p:sp>
        <p:nvSpPr>
          <p:cNvPr id="21" name="Google Shape;162;p12">
            <a:extLst>
              <a:ext uri="{FF2B5EF4-FFF2-40B4-BE49-F238E27FC236}">
                <a16:creationId xmlns:a16="http://schemas.microsoft.com/office/drawing/2014/main" id="{D9B6D48A-E42C-57AE-7524-83BD369BACEA}"/>
              </a:ext>
            </a:extLst>
          </p:cNvPr>
          <p:cNvSpPr txBox="1"/>
          <p:nvPr/>
        </p:nvSpPr>
        <p:spPr>
          <a:xfrm>
            <a:off x="6523093" y="2563994"/>
            <a:ext cx="2316007" cy="142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lang="en-GB" sz="3600" b="1" i="0" u="none" strike="noStrike" cap="none">
                <a:solidFill>
                  <a:srgbClr val="000000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Decode</a:t>
            </a:r>
            <a:endParaRPr sz="500">
              <a:latin typeface="Daytona" panose="020B0604030500040204" pitchFamily="34" charset="0"/>
            </a:endParaRPr>
          </a:p>
        </p:txBody>
      </p:sp>
      <p:sp>
        <p:nvSpPr>
          <p:cNvPr id="22" name="Google Shape;163;p12">
            <a:extLst>
              <a:ext uri="{FF2B5EF4-FFF2-40B4-BE49-F238E27FC236}">
                <a16:creationId xmlns:a16="http://schemas.microsoft.com/office/drawing/2014/main" id="{9EDDF54A-9A4A-9DAD-5FEB-98A1925C0DC8}"/>
              </a:ext>
            </a:extLst>
          </p:cNvPr>
          <p:cNvSpPr txBox="1"/>
          <p:nvPr/>
        </p:nvSpPr>
        <p:spPr>
          <a:xfrm>
            <a:off x="4764175" y="4046241"/>
            <a:ext cx="2356898" cy="14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lang="en-GB" sz="3600" b="1" i="0" u="none" strike="noStrike" cap="none">
                <a:solidFill>
                  <a:srgbClr val="000000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Execute</a:t>
            </a:r>
            <a:endParaRPr sz="1200">
              <a:latin typeface="Daytona" panose="020B0604030500040204" pitchFamily="34" charset="0"/>
            </a:endParaRPr>
          </a:p>
        </p:txBody>
      </p:sp>
      <p:sp>
        <p:nvSpPr>
          <p:cNvPr id="23" name="Google Shape;179;p14">
            <a:extLst>
              <a:ext uri="{FF2B5EF4-FFF2-40B4-BE49-F238E27FC236}">
                <a16:creationId xmlns:a16="http://schemas.microsoft.com/office/drawing/2014/main" id="{E419F64B-7FD0-1F0E-A54E-C750CCEABF67}"/>
              </a:ext>
            </a:extLst>
          </p:cNvPr>
          <p:cNvSpPr txBox="1"/>
          <p:nvPr/>
        </p:nvSpPr>
        <p:spPr>
          <a:xfrm>
            <a:off x="1234177" y="1571100"/>
            <a:ext cx="2982220" cy="18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200" dirty="0">
                <a:latin typeface="Daytona"/>
                <a:ea typeface="Cantarell"/>
                <a:cs typeface="Cantarell"/>
                <a:sym typeface="Cantarell"/>
              </a:rPr>
              <a:t>The purpose of the CPU is to ‘fetch’ </a:t>
            </a:r>
            <a:r>
              <a:rPr lang="en-US" sz="2200" b="1" dirty="0">
                <a:latin typeface="Daytona"/>
                <a:ea typeface="Cantarell"/>
                <a:cs typeface="Cantarell"/>
                <a:sym typeface="Cantarell"/>
              </a:rPr>
              <a:t>instructions</a:t>
            </a:r>
            <a:r>
              <a:rPr lang="en-US" sz="2200" dirty="0">
                <a:latin typeface="Daytona"/>
                <a:ea typeface="Cantarell"/>
                <a:cs typeface="Cantarell"/>
                <a:sym typeface="Cantarell"/>
              </a:rPr>
              <a:t> from the memory, ‘decode’ and then ‘execute’ them. </a:t>
            </a:r>
            <a:endParaRPr lang="en-GB" sz="2200" dirty="0">
              <a:latin typeface="Daytona" panose="020B0604030500040204" pitchFamily="34" charset="0"/>
              <a:ea typeface="Cantarell"/>
              <a:cs typeface="Cantarell"/>
              <a:sym typeface="Cantarell"/>
            </a:endParaRPr>
          </a:p>
        </p:txBody>
      </p:sp>
      <p:sp>
        <p:nvSpPr>
          <p:cNvPr id="39" name="Title 2">
            <a:extLst>
              <a:ext uri="{FF2B5EF4-FFF2-40B4-BE49-F238E27FC236}">
                <a16:creationId xmlns:a16="http://schemas.microsoft.com/office/drawing/2014/main" id="{9B9E16CC-5725-F374-F2B3-DD2F7AB9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936C91FB-B8C9-E5A1-8215-4F9451CE03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F35A3E0-77F4-EC81-2A7F-5DD16A4BDE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A6CF2E39-1218-C483-4EDE-4093A1C329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B40F291B-F9BC-A8CF-D09C-0A03ED726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3"/>
            <a:ext cx="2251216" cy="1523211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34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E9BB0800-AD84-FD35-07F5-AC4269B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89AA196-B577-AAF6-6E22-4920BEE808A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3464371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CPU Components</a:t>
            </a:r>
          </a:p>
        </p:txBody>
      </p:sp>
      <p:sp>
        <p:nvSpPr>
          <p:cNvPr id="39" name="Title 2">
            <a:extLst>
              <a:ext uri="{FF2B5EF4-FFF2-40B4-BE49-F238E27FC236}">
                <a16:creationId xmlns:a16="http://schemas.microsoft.com/office/drawing/2014/main" id="{9B9E16CC-5725-F374-F2B3-DD2F7AB9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936C91FB-B8C9-E5A1-8215-4F9451CE03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F35A3E0-77F4-EC81-2A7F-5DD16A4BDE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A6CF2E39-1218-C483-4EDE-4093A1C329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B40F291B-F9BC-A8CF-D09C-0A03ED726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3"/>
            <a:ext cx="2251216" cy="1523211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E20E8-7FBA-50E4-4430-E0BC882C8625}"/>
              </a:ext>
            </a:extLst>
          </p:cNvPr>
          <p:cNvSpPr txBox="1"/>
          <p:nvPr/>
        </p:nvSpPr>
        <p:spPr>
          <a:xfrm>
            <a:off x="1107941" y="1726393"/>
            <a:ext cx="6100762" cy="5007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Control Unit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Controls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movement of data 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around your CPU during the 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fetch-decode-execute cycle.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ytona" panose="020B0604030500040204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Arithmetic Logic Unit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Carries out all the 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calculations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 in the CPU.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ytona" panose="020B0604030500040204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Cache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Stores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currently used data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,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just like RAM. But it is closer 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    to the CPU so instructions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    can be fetched    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faster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Segoe UI" panose="020B0502040204020203" pitchFamily="34" charset="0"/>
              </a:rPr>
              <a:t>!</a:t>
            </a:r>
          </a:p>
        </p:txBody>
      </p:sp>
      <p:pic>
        <p:nvPicPr>
          <p:cNvPr id="20" name="Picture 2" descr="Speed Lines Icons - Free SVG &amp; PNG Speed Lines Images - Noun ...">
            <a:extLst>
              <a:ext uri="{FF2B5EF4-FFF2-40B4-BE49-F238E27FC236}">
                <a16:creationId xmlns:a16="http://schemas.microsoft.com/office/drawing/2014/main" id="{B0D4E80D-EDCD-1FB6-DC87-99D28E755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851017">
            <a:off x="3649358" y="6263589"/>
            <a:ext cx="370755" cy="37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32186B6-83FE-A270-C38A-334071727F9E}"/>
              </a:ext>
            </a:extLst>
          </p:cNvPr>
          <p:cNvGrpSpPr/>
          <p:nvPr/>
        </p:nvGrpSpPr>
        <p:grpSpPr>
          <a:xfrm>
            <a:off x="5140925" y="567770"/>
            <a:ext cx="4514128" cy="3977646"/>
            <a:chOff x="4150909" y="257671"/>
            <a:chExt cx="5812744" cy="5047725"/>
          </a:xfrm>
        </p:grpSpPr>
        <p:pic>
          <p:nvPicPr>
            <p:cNvPr id="25" name="Picture 2" descr="See the source image">
              <a:extLst>
                <a:ext uri="{FF2B5EF4-FFF2-40B4-BE49-F238E27FC236}">
                  <a16:creationId xmlns:a16="http://schemas.microsoft.com/office/drawing/2014/main" id="{78B47EF6-1EF1-7DD4-9D0B-B197E89BB4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28" b="22540"/>
            <a:stretch/>
          </p:blipFill>
          <p:spPr bwMode="auto">
            <a:xfrm rot="20338666">
              <a:off x="4150909" y="257671"/>
              <a:ext cx="5812744" cy="5047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 descr="See the source image">
              <a:extLst>
                <a:ext uri="{FF2B5EF4-FFF2-40B4-BE49-F238E27FC236}">
                  <a16:creationId xmlns:a16="http://schemas.microsoft.com/office/drawing/2014/main" id="{CE7F2C0D-AF98-A0B3-4C14-BF26BB6466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895" t="24845" r="27978" b="55194"/>
            <a:stretch/>
          </p:blipFill>
          <p:spPr bwMode="auto">
            <a:xfrm>
              <a:off x="6157478" y="1400623"/>
              <a:ext cx="1732556" cy="17081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7AE611F-80CD-3F09-FF43-AA10386D9BE3}"/>
                </a:ext>
              </a:extLst>
            </p:cNvPr>
            <p:cNvSpPr/>
            <p:nvPr/>
          </p:nvSpPr>
          <p:spPr>
            <a:xfrm>
              <a:off x="5575733" y="1315353"/>
              <a:ext cx="1364566" cy="1106870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>
                  <a:latin typeface="Segoe UI" panose="020B0502040204020203" pitchFamily="34" charset="0"/>
                  <a:cs typeface="Segoe UI" panose="020B0502040204020203" pitchFamily="34" charset="0"/>
                </a:rPr>
                <a:t>CU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5AB86BD-120C-1238-3E80-C2EA87178D05}"/>
                </a:ext>
              </a:extLst>
            </p:cNvPr>
            <p:cNvSpPr/>
            <p:nvPr/>
          </p:nvSpPr>
          <p:spPr>
            <a:xfrm>
              <a:off x="7023756" y="1315353"/>
              <a:ext cx="1364566" cy="1106870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>
                  <a:latin typeface="Segoe UI" panose="020B0502040204020203" pitchFamily="34" charset="0"/>
                  <a:cs typeface="Segoe UI" panose="020B0502040204020203" pitchFamily="34" charset="0"/>
                </a:rPr>
                <a:t>ALU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1FB5E41-FB5C-0DC4-E3BE-FDE8AD0E8460}"/>
                </a:ext>
              </a:extLst>
            </p:cNvPr>
            <p:cNvSpPr/>
            <p:nvPr/>
          </p:nvSpPr>
          <p:spPr>
            <a:xfrm>
              <a:off x="5449525" y="2503474"/>
              <a:ext cx="2936425" cy="110687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>
                  <a:latin typeface="Segoe UI" panose="020B0502040204020203" pitchFamily="34" charset="0"/>
                  <a:cs typeface="Segoe UI" panose="020B0502040204020203" pitchFamily="34" charset="0"/>
                </a:rPr>
                <a:t>Cache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499EF5-4A08-1463-A15B-E41A02B62EA8}"/>
              </a:ext>
            </a:extLst>
          </p:cNvPr>
          <p:cNvSpPr/>
          <p:nvPr/>
        </p:nvSpPr>
        <p:spPr>
          <a:xfrm>
            <a:off x="5329149" y="4441844"/>
            <a:ext cx="3955983" cy="162577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Daytona"/>
              </a:rPr>
              <a:t>Task 1</a:t>
            </a:r>
            <a:r>
              <a:rPr lang="en-US" sz="2000" b="1" dirty="0">
                <a:latin typeface="Daytona"/>
              </a:rPr>
              <a:t>: </a:t>
            </a:r>
            <a:r>
              <a:rPr lang="en-US" sz="2000" dirty="0">
                <a:latin typeface="Daytona"/>
              </a:rPr>
              <a:t>Can you recreate my 	 picture of a CPU?</a:t>
            </a:r>
          </a:p>
          <a:p>
            <a:r>
              <a:rPr lang="en-US" sz="2000" b="1" dirty="0">
                <a:latin typeface="Daytona" panose="020B0604030500040204" pitchFamily="34" charset="0"/>
              </a:rPr>
              <a:t>Extension:</a:t>
            </a:r>
            <a:r>
              <a:rPr lang="en-US" sz="2000" dirty="0">
                <a:latin typeface="Daytona" panose="020B0604030500040204" pitchFamily="34" charset="0"/>
              </a:rPr>
              <a:t> Add descriptions 	      of each part. </a:t>
            </a:r>
            <a:endParaRPr lang="en-GB" sz="2000" dirty="0">
              <a:latin typeface="Daytona" panose="020B0604030500040204" pitchFamily="34" charset="0"/>
            </a:endParaRPr>
          </a:p>
        </p:txBody>
      </p:sp>
      <p:pic>
        <p:nvPicPr>
          <p:cNvPr id="31" name="Lightbulb 1">
            <a:extLst>
              <a:ext uri="{FF2B5EF4-FFF2-40B4-BE49-F238E27FC236}">
                <a16:creationId xmlns:a16="http://schemas.microsoft.com/office/drawing/2014/main" id="{0D4010C2-5725-1A3F-9E7E-01575A10E7C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2">
            <a:extLst>
              <a:ext uri="{FF2B5EF4-FFF2-40B4-BE49-F238E27FC236}">
                <a16:creationId xmlns:a16="http://schemas.microsoft.com/office/drawing/2014/main" id="{9B9E16CC-5725-F374-F2B3-DD2F7AB9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936C91FB-B8C9-E5A1-8215-4F9451CE03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F35A3E0-77F4-EC81-2A7F-5DD16A4BDE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A6CF2E39-1218-C483-4EDE-4093A1C329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B40F291B-F9BC-A8CF-D09C-0A03ED726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3"/>
            <a:ext cx="2251216" cy="1523211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1225F4A-6B13-319F-EDD5-514B6891C6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30296" y="755334"/>
            <a:ext cx="8238392" cy="493871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b="1" dirty="0">
                <a:latin typeface="Daytona"/>
                <a:cs typeface="Segoe UI"/>
              </a:rPr>
              <a:t>Task 2</a:t>
            </a:r>
          </a:p>
          <a:p>
            <a:pPr marL="0" indent="0">
              <a:buNone/>
            </a:pPr>
            <a:r>
              <a:rPr lang="en-US" sz="2200" dirty="0"/>
              <a:t>Using the key phrases, and the images to help you, explain in your eBook finish this sentence:</a:t>
            </a:r>
          </a:p>
          <a:p>
            <a:pPr marL="0" indent="0">
              <a:buNone/>
            </a:pPr>
            <a:r>
              <a:rPr lang="en-US" sz="2200" dirty="0">
                <a:latin typeface="Daytona"/>
                <a:cs typeface="Segoe UI"/>
              </a:rPr>
              <a:t>A better performing CPU will…</a:t>
            </a:r>
            <a:endParaRPr lang="en-US" sz="2200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F7525E6A-88C8-F307-C376-CA335E89D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028684"/>
              </p:ext>
            </p:extLst>
          </p:nvPr>
        </p:nvGraphicFramePr>
        <p:xfrm>
          <a:off x="951141" y="2358780"/>
          <a:ext cx="8011884" cy="410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628">
                  <a:extLst>
                    <a:ext uri="{9D8B030D-6E8A-4147-A177-3AD203B41FA5}">
                      <a16:colId xmlns:a16="http://schemas.microsoft.com/office/drawing/2014/main" val="3096025378"/>
                    </a:ext>
                  </a:extLst>
                </a:gridCol>
                <a:gridCol w="2670628">
                  <a:extLst>
                    <a:ext uri="{9D8B030D-6E8A-4147-A177-3AD203B41FA5}">
                      <a16:colId xmlns:a16="http://schemas.microsoft.com/office/drawing/2014/main" val="568395272"/>
                    </a:ext>
                  </a:extLst>
                </a:gridCol>
                <a:gridCol w="2670628">
                  <a:extLst>
                    <a:ext uri="{9D8B030D-6E8A-4147-A177-3AD203B41FA5}">
                      <a16:colId xmlns:a16="http://schemas.microsoft.com/office/drawing/2014/main" val="3788355720"/>
                    </a:ext>
                  </a:extLst>
                </a:gridCol>
              </a:tblGrid>
              <a:tr h="525036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Daytona" panose="020B0604030500040204" pitchFamily="34" charset="0"/>
                        </a:rPr>
                        <a:t>at the same time </a:t>
                      </a:r>
                      <a:endParaRPr lang="en-GB" b="1">
                        <a:solidFill>
                          <a:schemeClr val="tx1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Daytona" panose="020B0604030500040204" pitchFamily="34" charset="0"/>
                        </a:rPr>
                        <a:t>quick access</a:t>
                      </a:r>
                      <a:endParaRPr lang="en-GB" b="0">
                        <a:solidFill>
                          <a:schemeClr val="tx1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Daytona" panose="020B0604030500040204" pitchFamily="34" charset="0"/>
                        </a:rPr>
                        <a:t>cycles</a:t>
                      </a:r>
                      <a:r>
                        <a:rPr lang="en-US" b="0">
                          <a:solidFill>
                            <a:schemeClr val="tx1"/>
                          </a:solidFill>
                          <a:latin typeface="Daytona" panose="020B0604030500040204" pitchFamily="34" charset="0"/>
                        </a:rPr>
                        <a:t> 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Daytona" panose="020B0604030500040204" pitchFamily="34" charset="0"/>
                        </a:rPr>
                        <a:t>per second</a:t>
                      </a:r>
                      <a:endParaRPr lang="en-GB" b="0">
                        <a:solidFill>
                          <a:schemeClr val="tx1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06730"/>
                  </a:ext>
                </a:extLst>
              </a:tr>
              <a:tr h="357709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5364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AC374B-9945-1D56-71F8-F9D4747B1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65" y="4724483"/>
            <a:ext cx="2252960" cy="1696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9963A-8DDD-BD11-0EDE-206422348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866" y="3191057"/>
            <a:ext cx="2252959" cy="877295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8D4127BB-9EC6-3650-8199-1B22D917A7B0}"/>
              </a:ext>
            </a:extLst>
          </p:cNvPr>
          <p:cNvSpPr/>
          <p:nvPr/>
        </p:nvSpPr>
        <p:spPr>
          <a:xfrm>
            <a:off x="1875585" y="4109112"/>
            <a:ext cx="731520" cy="564733"/>
          </a:xfrm>
          <a:prstGeom prst="downArrow">
            <a:avLst/>
          </a:prstGeom>
          <a:solidFill>
            <a:srgbClr val="95D6A4"/>
          </a:solidFill>
          <a:ln w="38100">
            <a:solidFill>
              <a:srgbClr val="78C2A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See the source image">
            <a:extLst>
              <a:ext uri="{FF2B5EF4-FFF2-40B4-BE49-F238E27FC236}">
                <a16:creationId xmlns:a16="http://schemas.microsoft.com/office/drawing/2014/main" id="{2C192167-D211-AAE0-C2DC-4D08EDA5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442" y="3360144"/>
            <a:ext cx="2576840" cy="257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ee the source image">
            <a:extLst>
              <a:ext uri="{FF2B5EF4-FFF2-40B4-BE49-F238E27FC236}">
                <a16:creationId xmlns:a16="http://schemas.microsoft.com/office/drawing/2014/main" id="{C3907659-645A-0F30-DCE4-BF598715A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87" t="41710" r="39961" b="44128"/>
          <a:stretch/>
        </p:blipFill>
        <p:spPr bwMode="auto">
          <a:xfrm>
            <a:off x="7336961" y="4007926"/>
            <a:ext cx="1260909" cy="129407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308D094-204D-8A62-3A8C-6F13948087BE}"/>
              </a:ext>
            </a:extLst>
          </p:cNvPr>
          <p:cNvGrpSpPr/>
          <p:nvPr/>
        </p:nvGrpSpPr>
        <p:grpSpPr>
          <a:xfrm>
            <a:off x="7335092" y="4068563"/>
            <a:ext cx="1427437" cy="1294070"/>
            <a:chOff x="981430" y="2078164"/>
            <a:chExt cx="4985063" cy="4576805"/>
          </a:xfrm>
        </p:grpSpPr>
        <p:grpSp>
          <p:nvGrpSpPr>
            <p:cNvPr id="11" name="Google Shape;146;p12">
              <a:extLst>
                <a:ext uri="{FF2B5EF4-FFF2-40B4-BE49-F238E27FC236}">
                  <a16:creationId xmlns:a16="http://schemas.microsoft.com/office/drawing/2014/main" id="{F7265D9F-165F-895C-4A06-05113DD6D749}"/>
                </a:ext>
              </a:extLst>
            </p:cNvPr>
            <p:cNvGrpSpPr/>
            <p:nvPr/>
          </p:nvGrpSpPr>
          <p:grpSpPr>
            <a:xfrm>
              <a:off x="981430" y="2078164"/>
              <a:ext cx="4985063" cy="4576805"/>
              <a:chOff x="700387" y="-51104"/>
              <a:chExt cx="4985063" cy="4576805"/>
            </a:xfrm>
          </p:grpSpPr>
          <p:sp>
            <p:nvSpPr>
              <p:cNvPr id="16" name="Google Shape;147;p12">
                <a:extLst>
                  <a:ext uri="{FF2B5EF4-FFF2-40B4-BE49-F238E27FC236}">
                    <a16:creationId xmlns:a16="http://schemas.microsoft.com/office/drawing/2014/main" id="{F3DA171F-15B7-D13E-9EF4-99E9EDBE4F33}"/>
                  </a:ext>
                </a:extLst>
              </p:cNvPr>
              <p:cNvSpPr/>
              <p:nvPr/>
            </p:nvSpPr>
            <p:spPr>
              <a:xfrm>
                <a:off x="3144150" y="876699"/>
                <a:ext cx="2541300" cy="17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48;p12">
                <a:extLst>
                  <a:ext uri="{FF2B5EF4-FFF2-40B4-BE49-F238E27FC236}">
                    <a16:creationId xmlns:a16="http://schemas.microsoft.com/office/drawing/2014/main" id="{0003D12F-025F-2CCE-32E3-919F0C70B610}"/>
                  </a:ext>
                </a:extLst>
              </p:cNvPr>
              <p:cNvSpPr txBox="1"/>
              <p:nvPr/>
            </p:nvSpPr>
            <p:spPr>
              <a:xfrm>
                <a:off x="3144150" y="876699"/>
                <a:ext cx="2541300" cy="17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Calibri"/>
                  <a:buNone/>
                </a:pPr>
                <a:endParaRPr/>
              </a:p>
            </p:txBody>
          </p:sp>
          <p:sp>
            <p:nvSpPr>
              <p:cNvPr id="18" name="Google Shape;149;p12">
                <a:extLst>
                  <a:ext uri="{FF2B5EF4-FFF2-40B4-BE49-F238E27FC236}">
                    <a16:creationId xmlns:a16="http://schemas.microsoft.com/office/drawing/2014/main" id="{B4CF5393-76C4-427F-6CC9-275E96CEFC0F}"/>
                  </a:ext>
                </a:extLst>
              </p:cNvPr>
              <p:cNvSpPr/>
              <p:nvPr/>
            </p:nvSpPr>
            <p:spPr>
              <a:xfrm>
                <a:off x="715312" y="150584"/>
                <a:ext cx="4032300" cy="4032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696" y="73392"/>
                    </a:moveTo>
                    <a:cubicBezTo>
                      <a:pt x="109616" y="81419"/>
                      <a:pt x="105696" y="88851"/>
                      <a:pt x="100246" y="95100"/>
                    </a:cubicBezTo>
                    <a:lnTo>
                      <a:pt x="104464" y="100090"/>
                    </a:lnTo>
                    <a:lnTo>
                      <a:pt x="91278" y="97007"/>
                    </a:lnTo>
                    <a:lnTo>
                      <a:pt x="89558" y="82455"/>
                    </a:lnTo>
                    <a:lnTo>
                      <a:pt x="93766" y="87434"/>
                    </a:lnTo>
                    <a:cubicBezTo>
                      <a:pt x="97703" y="82589"/>
                      <a:pt x="100550" y="76953"/>
                      <a:pt x="102116" y="70910"/>
                    </a:cubicBezTo>
                    <a:close/>
                  </a:path>
                </a:pathLst>
              </a:custGeom>
              <a:solidFill>
                <a:srgbClr val="E36C09">
                  <a:alpha val="80000"/>
                </a:srgbClr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150;p12">
                <a:extLst>
                  <a:ext uri="{FF2B5EF4-FFF2-40B4-BE49-F238E27FC236}">
                    <a16:creationId xmlns:a16="http://schemas.microsoft.com/office/drawing/2014/main" id="{14942DB6-433A-5089-99DD-4EEE5F401C22}"/>
                  </a:ext>
                </a:extLst>
              </p:cNvPr>
              <p:cNvSpPr/>
              <p:nvPr/>
            </p:nvSpPr>
            <p:spPr>
              <a:xfrm>
                <a:off x="1415601" y="2820501"/>
                <a:ext cx="2384700" cy="17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151;p12">
                <a:extLst>
                  <a:ext uri="{FF2B5EF4-FFF2-40B4-BE49-F238E27FC236}">
                    <a16:creationId xmlns:a16="http://schemas.microsoft.com/office/drawing/2014/main" id="{00824649-1D0F-BDEE-3DAF-6B1A93F61D9C}"/>
                  </a:ext>
                </a:extLst>
              </p:cNvPr>
              <p:cNvSpPr txBox="1"/>
              <p:nvPr/>
            </p:nvSpPr>
            <p:spPr>
              <a:xfrm>
                <a:off x="1415601" y="2820501"/>
                <a:ext cx="2384700" cy="17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Calibri"/>
                  <a:buNone/>
                </a:pPr>
                <a:endParaRPr/>
              </a:p>
            </p:txBody>
          </p:sp>
          <p:sp>
            <p:nvSpPr>
              <p:cNvPr id="23" name="Google Shape;152;p12">
                <a:extLst>
                  <a:ext uri="{FF2B5EF4-FFF2-40B4-BE49-F238E27FC236}">
                    <a16:creationId xmlns:a16="http://schemas.microsoft.com/office/drawing/2014/main" id="{6A0630A0-5D08-EDB8-A62D-5836EA2BAB08}"/>
                  </a:ext>
                </a:extLst>
              </p:cNvPr>
              <p:cNvSpPr/>
              <p:nvPr/>
            </p:nvSpPr>
            <p:spPr>
              <a:xfrm>
                <a:off x="817558" y="-51104"/>
                <a:ext cx="4032300" cy="4032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4277" y="87591"/>
                    </a:moveTo>
                    <a:lnTo>
                      <a:pt x="14277" y="87591"/>
                    </a:lnTo>
                    <a:cubicBezTo>
                      <a:pt x="9558" y="79773"/>
                      <a:pt x="6924" y="70875"/>
                      <a:pt x="6625" y="61747"/>
                    </a:cubicBezTo>
                    <a:lnTo>
                      <a:pt x="138" y="60971"/>
                    </a:lnTo>
                    <a:lnTo>
                      <a:pt x="11888" y="54240"/>
                    </a:lnTo>
                    <a:lnTo>
                      <a:pt x="23065" y="63716"/>
                    </a:lnTo>
                    <a:lnTo>
                      <a:pt x="16592" y="62941"/>
                    </a:lnTo>
                    <a:lnTo>
                      <a:pt x="16592" y="62941"/>
                    </a:lnTo>
                    <a:cubicBezTo>
                      <a:pt x="17061" y="69850"/>
                      <a:pt x="19172" y="76549"/>
                      <a:pt x="22750" y="82478"/>
                    </a:cubicBezTo>
                    <a:close/>
                  </a:path>
                </a:pathLst>
              </a:custGeom>
              <a:solidFill>
                <a:srgbClr val="E36C09"/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53;p12">
                <a:extLst>
                  <a:ext uri="{FF2B5EF4-FFF2-40B4-BE49-F238E27FC236}">
                    <a16:creationId xmlns:a16="http://schemas.microsoft.com/office/drawing/2014/main" id="{95BCA1F2-6148-7911-CC72-40D5AA46DE83}"/>
                  </a:ext>
                </a:extLst>
              </p:cNvPr>
              <p:cNvSpPr/>
              <p:nvPr/>
            </p:nvSpPr>
            <p:spPr>
              <a:xfrm>
                <a:off x="716643" y="62909"/>
                <a:ext cx="1705200" cy="17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54;p12">
                <a:extLst>
                  <a:ext uri="{FF2B5EF4-FFF2-40B4-BE49-F238E27FC236}">
                    <a16:creationId xmlns:a16="http://schemas.microsoft.com/office/drawing/2014/main" id="{1B632E9E-2EAF-AE62-9F46-0E60EA22C509}"/>
                  </a:ext>
                </a:extLst>
              </p:cNvPr>
              <p:cNvSpPr txBox="1"/>
              <p:nvPr/>
            </p:nvSpPr>
            <p:spPr>
              <a:xfrm>
                <a:off x="716643" y="62909"/>
                <a:ext cx="1705200" cy="17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Calibri"/>
                  <a:buNone/>
                </a:pPr>
                <a:endParaRPr/>
              </a:p>
            </p:txBody>
          </p:sp>
          <p:sp>
            <p:nvSpPr>
              <p:cNvPr id="33" name="Google Shape;155;p12">
                <a:extLst>
                  <a:ext uri="{FF2B5EF4-FFF2-40B4-BE49-F238E27FC236}">
                    <a16:creationId xmlns:a16="http://schemas.microsoft.com/office/drawing/2014/main" id="{36E1DD26-CA17-9E34-DCAF-E345FF1ABB03}"/>
                  </a:ext>
                </a:extLst>
              </p:cNvPr>
              <p:cNvSpPr/>
              <p:nvPr/>
            </p:nvSpPr>
            <p:spPr>
              <a:xfrm>
                <a:off x="700387" y="-26190"/>
                <a:ext cx="4032300" cy="4032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0499" y="7448"/>
                    </a:moveTo>
                    <a:lnTo>
                      <a:pt x="50499" y="7448"/>
                    </a:lnTo>
                    <a:cubicBezTo>
                      <a:pt x="65809" y="4680"/>
                      <a:pt x="81565" y="8727"/>
                      <a:pt x="93646" y="18529"/>
                    </a:cubicBezTo>
                    <a:lnTo>
                      <a:pt x="98483" y="14137"/>
                    </a:lnTo>
                    <a:lnTo>
                      <a:pt x="95871" y="27425"/>
                    </a:lnTo>
                    <a:lnTo>
                      <a:pt x="81389" y="29660"/>
                    </a:lnTo>
                    <a:lnTo>
                      <a:pt x="86215" y="25278"/>
                    </a:lnTo>
                    <a:lnTo>
                      <a:pt x="86215" y="25278"/>
                    </a:lnTo>
                    <a:cubicBezTo>
                      <a:pt x="76522" y="17960"/>
                      <a:pt x="64211" y="15026"/>
                      <a:pt x="52259" y="17187"/>
                    </a:cubicBezTo>
                    <a:close/>
                  </a:path>
                </a:pathLst>
              </a:custGeom>
              <a:solidFill>
                <a:srgbClr val="E36C09">
                  <a:alpha val="47450"/>
                </a:srgbClr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" name="Google Shape;162;p12">
              <a:extLst>
                <a:ext uri="{FF2B5EF4-FFF2-40B4-BE49-F238E27FC236}">
                  <a16:creationId xmlns:a16="http://schemas.microsoft.com/office/drawing/2014/main" id="{9D2D9030-C7FF-D6DB-1EF8-F6A57C30E6EE}"/>
                </a:ext>
              </a:extLst>
            </p:cNvPr>
            <p:cNvSpPr txBox="1"/>
            <p:nvPr/>
          </p:nvSpPr>
          <p:spPr>
            <a:xfrm>
              <a:off x="3055629" y="3098747"/>
              <a:ext cx="2541300" cy="1705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lang="en-GB" sz="1200" b="1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libri"/>
                  <a:cs typeface="Calibri"/>
                  <a:sym typeface="Calibri"/>
                </a:rPr>
                <a:t>Decode</a:t>
              </a:r>
              <a:endParaRPr sz="500">
                <a:latin typeface="Daytona" panose="020B0604030500040204" pitchFamily="34" charset="0"/>
              </a:endParaRPr>
            </a:p>
          </p:txBody>
        </p:sp>
        <p:sp>
          <p:nvSpPr>
            <p:cNvPr id="14" name="Google Shape;163;p12">
              <a:extLst>
                <a:ext uri="{FF2B5EF4-FFF2-40B4-BE49-F238E27FC236}">
                  <a16:creationId xmlns:a16="http://schemas.microsoft.com/office/drawing/2014/main" id="{4EB03732-8EC2-822E-4C4B-0D6A52F04F36}"/>
                </a:ext>
              </a:extLst>
            </p:cNvPr>
            <p:cNvSpPr txBox="1"/>
            <p:nvPr/>
          </p:nvSpPr>
          <p:spPr>
            <a:xfrm>
              <a:off x="1495174" y="4800268"/>
              <a:ext cx="2586169" cy="1766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lang="en-GB" sz="1200" b="1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libri"/>
                  <a:cs typeface="Calibri"/>
                  <a:sym typeface="Calibri"/>
                </a:rPr>
                <a:t>Execute</a:t>
              </a:r>
              <a:endParaRPr sz="500">
                <a:latin typeface="Daytona" panose="020B0604030500040204" pitchFamily="34" charset="0"/>
              </a:endParaRPr>
            </a:p>
          </p:txBody>
        </p:sp>
        <p:sp>
          <p:nvSpPr>
            <p:cNvPr id="15" name="Google Shape;165;p12">
              <a:extLst>
                <a:ext uri="{FF2B5EF4-FFF2-40B4-BE49-F238E27FC236}">
                  <a16:creationId xmlns:a16="http://schemas.microsoft.com/office/drawing/2014/main" id="{C96F3BE6-C7D7-AEC2-4802-C6FD8E6C01F5}"/>
                </a:ext>
              </a:extLst>
            </p:cNvPr>
            <p:cNvSpPr txBox="1"/>
            <p:nvPr/>
          </p:nvSpPr>
          <p:spPr>
            <a:xfrm>
              <a:off x="1017810" y="2432593"/>
              <a:ext cx="1921588" cy="1705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lang="en-GB" sz="1200" b="1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libri"/>
                  <a:cs typeface="Calibri"/>
                  <a:sym typeface="Calibri"/>
                </a:rPr>
                <a:t>Fetch</a:t>
              </a:r>
              <a:endParaRPr sz="500">
                <a:latin typeface="Daytona" panose="020B0604030500040204" pitchFamily="34" charset="0"/>
              </a:endParaRPr>
            </a:p>
          </p:txBody>
        </p:sp>
      </p:grp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DCF022C-FEF7-F098-531A-7BCBCB2CC9BD}"/>
              </a:ext>
            </a:extLst>
          </p:cNvPr>
          <p:cNvSpPr/>
          <p:nvPr/>
        </p:nvSpPr>
        <p:spPr>
          <a:xfrm>
            <a:off x="4592249" y="3946317"/>
            <a:ext cx="731520" cy="564733"/>
          </a:xfrm>
          <a:prstGeom prst="downArrow">
            <a:avLst/>
          </a:prstGeom>
          <a:solidFill>
            <a:srgbClr val="95D6A4"/>
          </a:solidFill>
          <a:ln w="38100">
            <a:solidFill>
              <a:srgbClr val="78C2A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5952AE-5049-EA98-A463-9AFD8A34612F}"/>
              </a:ext>
            </a:extLst>
          </p:cNvPr>
          <p:cNvSpPr txBox="1"/>
          <p:nvPr/>
        </p:nvSpPr>
        <p:spPr>
          <a:xfrm>
            <a:off x="4182345" y="3276038"/>
            <a:ext cx="1491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/>
              <a:t>Cache </a:t>
            </a:r>
            <a:endParaRPr lang="en-GB" sz="2000" b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726C93-3A55-C64C-3A2C-2BCB883F4304}"/>
              </a:ext>
            </a:extLst>
          </p:cNvPr>
          <p:cNvSpPr txBox="1"/>
          <p:nvPr/>
        </p:nvSpPr>
        <p:spPr>
          <a:xfrm>
            <a:off x="3681237" y="4648564"/>
            <a:ext cx="2576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/>
              <a:t>Cache </a:t>
            </a:r>
            <a:endParaRPr lang="en-GB" sz="7200" b="1"/>
          </a:p>
        </p:txBody>
      </p:sp>
      <p:pic>
        <p:nvPicPr>
          <p:cNvPr id="3" name="Lightbulb 2">
            <a:extLst>
              <a:ext uri="{FF2B5EF4-FFF2-40B4-BE49-F238E27FC236}">
                <a16:creationId xmlns:a16="http://schemas.microsoft.com/office/drawing/2014/main" id="{B57659C5-BB09-D618-4C84-BCAEC6033C9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12" name="Lightbulb 3">
            <a:extLst>
              <a:ext uri="{FF2B5EF4-FFF2-40B4-BE49-F238E27FC236}">
                <a16:creationId xmlns:a16="http://schemas.microsoft.com/office/drawing/2014/main" id="{AE8C16E8-D659-8812-A303-D268FCA2F1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pic>
        <p:nvPicPr>
          <p:cNvPr id="19" name="Lightbulb 1">
            <a:extLst>
              <a:ext uri="{FF2B5EF4-FFF2-40B4-BE49-F238E27FC236}">
                <a16:creationId xmlns:a16="http://schemas.microsoft.com/office/drawing/2014/main" id="{EEF44F7C-93DB-1A2D-00CD-501331DB33F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CC63D0B-FBC9-319F-B536-C1271DF5FB2C}"/>
              </a:ext>
            </a:extLst>
          </p:cNvPr>
          <p:cNvSpPr txBox="1"/>
          <p:nvPr/>
        </p:nvSpPr>
        <p:spPr>
          <a:xfrm>
            <a:off x="931161" y="2855359"/>
            <a:ext cx="93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2 cores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B682D0-7BD1-FDC0-5FEF-EF292BE5C23C}"/>
              </a:ext>
            </a:extLst>
          </p:cNvPr>
          <p:cNvSpPr txBox="1"/>
          <p:nvPr/>
        </p:nvSpPr>
        <p:spPr>
          <a:xfrm>
            <a:off x="959666" y="4422242"/>
            <a:ext cx="93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4 cores</a:t>
            </a:r>
          </a:p>
        </p:txBody>
      </p:sp>
    </p:spTree>
    <p:extLst>
      <p:ext uri="{BB962C8B-B14F-4D97-AF65-F5344CB8AC3E}">
        <p14:creationId xmlns:p14="http://schemas.microsoft.com/office/powerpoint/2010/main" val="423714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2">
            <a:extLst>
              <a:ext uri="{FF2B5EF4-FFF2-40B4-BE49-F238E27FC236}">
                <a16:creationId xmlns:a16="http://schemas.microsoft.com/office/drawing/2014/main" id="{9B9E16CC-5725-F374-F2B3-DD2F7AB9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936C91FB-B8C9-E5A1-8215-4F9451CE03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F35A3E0-77F4-EC81-2A7F-5DD16A4BDE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A6CF2E39-1218-C483-4EDE-4093A1C329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B40F291B-F9BC-A8CF-D09C-0A03ED726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3"/>
            <a:ext cx="2251216" cy="1523211"/>
          </a:xfrm>
        </p:spPr>
        <p:txBody>
          <a:bodyPr/>
          <a:lstStyle/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1225F4A-6B13-319F-EDD5-514B6891C6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5"/>
            <a:ext cx="8238392" cy="4938713"/>
          </a:xfrm>
        </p:spPr>
        <p:txBody>
          <a:bodyPr/>
          <a:lstStyle/>
          <a:p>
            <a:pPr marL="0" indent="0">
              <a:buNone/>
            </a:pPr>
            <a:endParaRPr lang="en-US" sz="2200">
              <a:latin typeface="Daytona"/>
              <a:cs typeface="Segoe UI"/>
            </a:endParaRPr>
          </a:p>
          <a:p>
            <a:pPr marL="0" indent="0">
              <a:buNone/>
            </a:pPr>
            <a:r>
              <a:rPr lang="en-US" sz="2200">
                <a:latin typeface="Daytona"/>
                <a:cs typeface="Segoe UI"/>
              </a:rPr>
              <a:t>A better performing CPU will…</a:t>
            </a:r>
          </a:p>
          <a:p>
            <a:r>
              <a:rPr lang="en-US" sz="2200">
                <a:latin typeface="Daytona"/>
                <a:cs typeface="Segoe UI"/>
              </a:rPr>
              <a:t>Have more </a:t>
            </a:r>
            <a:r>
              <a:rPr lang="en-US" sz="2200" b="1">
                <a:latin typeface="Daytona"/>
                <a:cs typeface="Segoe UI"/>
              </a:rPr>
              <a:t>cores</a:t>
            </a:r>
            <a:r>
              <a:rPr lang="en-US" sz="2200">
                <a:latin typeface="Daytona"/>
                <a:cs typeface="Segoe UI"/>
              </a:rPr>
              <a:t> that process instructions </a:t>
            </a:r>
            <a:r>
              <a:rPr lang="en-US" sz="2200" b="1">
                <a:latin typeface="Daytona"/>
                <a:cs typeface="Segoe UI"/>
              </a:rPr>
              <a:t>at the same time</a:t>
            </a:r>
            <a:r>
              <a:rPr lang="en-US" sz="2200">
                <a:latin typeface="Daytona"/>
                <a:cs typeface="Segoe UI"/>
              </a:rPr>
              <a:t> as each other. </a:t>
            </a:r>
          </a:p>
          <a:p>
            <a:r>
              <a:rPr lang="en-US" sz="2200"/>
              <a:t>Have a bigger </a:t>
            </a:r>
            <a:r>
              <a:rPr lang="en-US" sz="2200" b="1"/>
              <a:t>cache</a:t>
            </a:r>
            <a:r>
              <a:rPr lang="en-US" sz="2200"/>
              <a:t> size to store more data to be </a:t>
            </a:r>
            <a:r>
              <a:rPr lang="en-US" sz="2200" b="1"/>
              <a:t>fetched quickly</a:t>
            </a:r>
            <a:r>
              <a:rPr lang="en-US" sz="2200"/>
              <a:t>.</a:t>
            </a:r>
          </a:p>
          <a:p>
            <a:r>
              <a:rPr lang="en-US" sz="2200"/>
              <a:t>Have a faster </a:t>
            </a:r>
            <a:r>
              <a:rPr lang="en-US" sz="2200" b="1"/>
              <a:t>clock speed </a:t>
            </a:r>
            <a:r>
              <a:rPr lang="en-US" sz="2200"/>
              <a:t>to complete more fetch-decode-execute </a:t>
            </a:r>
            <a:r>
              <a:rPr lang="en-US" sz="2200" b="1"/>
              <a:t>cycles every second</a:t>
            </a:r>
            <a:r>
              <a:rPr lang="en-US" sz="2200"/>
              <a:t>. </a:t>
            </a:r>
          </a:p>
        </p:txBody>
      </p:sp>
      <p:pic>
        <p:nvPicPr>
          <p:cNvPr id="3" name="Lightbulb 2">
            <a:extLst>
              <a:ext uri="{FF2B5EF4-FFF2-40B4-BE49-F238E27FC236}">
                <a16:creationId xmlns:a16="http://schemas.microsoft.com/office/drawing/2014/main" id="{B57659C5-BB09-D618-4C84-BCAEC6033C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12" name="Lightbulb 3">
            <a:extLst>
              <a:ext uri="{FF2B5EF4-FFF2-40B4-BE49-F238E27FC236}">
                <a16:creationId xmlns:a16="http://schemas.microsoft.com/office/drawing/2014/main" id="{AE8C16E8-D659-8812-A303-D268FCA2F1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pic>
        <p:nvPicPr>
          <p:cNvPr id="19" name="Lightbulb 1">
            <a:extLst>
              <a:ext uri="{FF2B5EF4-FFF2-40B4-BE49-F238E27FC236}">
                <a16:creationId xmlns:a16="http://schemas.microsoft.com/office/drawing/2014/main" id="{EEF44F7C-93DB-1A2D-00CD-501331DB3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00000"/>
                </a:solidFill>
                <a:latin typeface="Arial"/>
              </a:defRPr>
            </a:pPr>
            <a:r>
              <a:t>Silent Working – 10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CPU: </a:t>
            </a:r>
            <a:r>
              <a:rPr sz="2200">
                <a:solidFill>
                  <a:srgbClr val="505050"/>
                </a:solidFill>
                <a:latin typeface="Arial"/>
              </a:rPr>
              <a:t>Central Processing Unit, the computer’s brain.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97180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ALU: </a:t>
            </a:r>
            <a:r>
              <a:rPr sz="2200">
                <a:solidFill>
                  <a:srgbClr val="505050"/>
                </a:solidFill>
                <a:latin typeface="Arial"/>
              </a:rPr>
              <a:t>Arithmetic Logic Unit, does maths and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4632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CU: </a:t>
            </a:r>
            <a:r>
              <a:rPr sz="2200">
                <a:solidFill>
                  <a:srgbClr val="505050"/>
                </a:solidFill>
                <a:latin typeface="Arial"/>
              </a:rPr>
              <a:t>Control Unit, tells parts of the CPU what to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880" y="109728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Cache: </a:t>
            </a:r>
            <a:r>
              <a:rPr sz="2200">
                <a:solidFill>
                  <a:srgbClr val="505050"/>
                </a:solidFill>
                <a:latin typeface="Arial"/>
              </a:rPr>
              <a:t>Small, fast memory inside the CPU.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880" y="297180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Clock Speed: </a:t>
            </a:r>
            <a:r>
              <a:rPr sz="2200">
                <a:solidFill>
                  <a:srgbClr val="505050"/>
                </a:solidFill>
                <a:latin typeface="Arial"/>
              </a:rPr>
              <a:t>How many instructions the CPU runs each second.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B9CCF301-20B7-C945-1DB4-9B9CC6C67DF3}"/>
              </a:ext>
            </a:extLst>
          </p:cNvPr>
          <p:cNvSpPr txBox="1">
            <a:spLocks/>
          </p:cNvSpPr>
          <p:nvPr/>
        </p:nvSpPr>
        <p:spPr>
          <a:xfrm>
            <a:off x="1605064" y="1372841"/>
            <a:ext cx="7494972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Evidence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Add a screenshot of your work to your Class Notebook. </a:t>
            </a:r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908E69D-9336-29EA-4BFE-C5549ABE37F8}"/>
              </a:ext>
            </a:extLst>
          </p:cNvPr>
          <p:cNvSpPr txBox="1">
            <a:spLocks/>
          </p:cNvSpPr>
          <p:nvPr/>
        </p:nvSpPr>
        <p:spPr>
          <a:xfrm>
            <a:off x="1069171" y="4204296"/>
            <a:ext cx="8803759" cy="14334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Reminders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Toilets &amp; Reception closed between lessons.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Self-Check your uniform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    If you arrive after the register has started, you are late.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350D58-0A86-4C97-AD53-67FF9C87CF2A}"/>
              </a:ext>
            </a:extLst>
          </p:cNvPr>
          <p:cNvSpPr txBox="1"/>
          <p:nvPr/>
        </p:nvSpPr>
        <p:spPr>
          <a:xfrm>
            <a:off x="434563" y="767616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Daytona"/>
                <a:cs typeface="Segoe UI"/>
              </a:rPr>
              <a:t>End of the Lesson 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107C73EA-1AA5-0706-B19C-E960371AB4AC}"/>
              </a:ext>
            </a:extLst>
          </p:cNvPr>
          <p:cNvSpPr txBox="1">
            <a:spLocks/>
          </p:cNvSpPr>
          <p:nvPr/>
        </p:nvSpPr>
        <p:spPr>
          <a:xfrm>
            <a:off x="4558578" y="2923738"/>
            <a:ext cx="4284844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Ending on a high!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Who has done well? </a:t>
            </a:r>
            <a:br>
              <a:rPr lang="en-GB">
                <a:latin typeface="Daytona"/>
                <a:cs typeface="Segoe UI"/>
              </a:rPr>
            </a:br>
            <a:r>
              <a:rPr lang="en-GB">
                <a:latin typeface="Daytona"/>
                <a:cs typeface="Segoe UI"/>
              </a:rPr>
              <a:t>How have we progressed?</a:t>
            </a:r>
            <a:endParaRPr lang="en-GB"/>
          </a:p>
        </p:txBody>
      </p:sp>
      <p:pic>
        <p:nvPicPr>
          <p:cNvPr id="29" name="Picture 8" descr="Glowing star Icon | Noto Emoji Travel &amp; Places Iconset | Google">
            <a:extLst>
              <a:ext uri="{FF2B5EF4-FFF2-40B4-BE49-F238E27FC236}">
                <a16:creationId xmlns:a16="http://schemas.microsoft.com/office/drawing/2014/main" id="{BEC7F533-B2CC-E8CD-C97D-33D3D32B1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0798">
            <a:off x="3374405" y="2653399"/>
            <a:ext cx="1184173" cy="11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Book, education, notepad icon - Download on Iconfinder">
            <a:extLst>
              <a:ext uri="{FF2B5EF4-FFF2-40B4-BE49-F238E27FC236}">
                <a16:creationId xmlns:a16="http://schemas.microsoft.com/office/drawing/2014/main" id="{34ECEBB8-42AA-BBDD-9FC3-E80FDC749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6" y="1100843"/>
            <a:ext cx="1665608" cy="166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Just a Friendly Reminder you should be Receiving your W-2 Form">
            <a:extLst>
              <a:ext uri="{FF2B5EF4-FFF2-40B4-BE49-F238E27FC236}">
                <a16:creationId xmlns:a16="http://schemas.microsoft.com/office/drawing/2014/main" id="{67A12781-E855-2BDD-A455-09790D928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69" b="94705" l="9978" r="89686">
                        <a14:foregroundMark x1="43274" y1="8623" x2="44395" y2="15734"/>
                        <a14:foregroundMark x1="56951" y1="80635" x2="55045" y2="62784"/>
                        <a14:foregroundMark x1="48655" y1="87746" x2="48318" y2="72012"/>
                        <a14:foregroundMark x1="55942" y1="94705" x2="54484" y2="74130"/>
                        <a14:foregroundMark x1="60538" y1="90923" x2="59081" y2="74584"/>
                        <a14:foregroundMark x1="41816" y1="8169" x2="41816" y2="8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41720" y="2915180"/>
            <a:ext cx="2639090" cy="195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Lightbulb 1">
            <a:extLst>
              <a:ext uri="{FF2B5EF4-FFF2-40B4-BE49-F238E27FC236}">
                <a16:creationId xmlns:a16="http://schemas.microsoft.com/office/drawing/2014/main" id="{512CEF38-7965-4142-1DF8-913099B34E8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3" name="Lightbulb 2">
            <a:extLst>
              <a:ext uri="{FF2B5EF4-FFF2-40B4-BE49-F238E27FC236}">
                <a16:creationId xmlns:a16="http://schemas.microsoft.com/office/drawing/2014/main" id="{AE79B9F9-E900-36A6-B602-DB8CE4DE596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4" name="Lightbulb 3">
            <a:extLst>
              <a:ext uri="{FF2B5EF4-FFF2-40B4-BE49-F238E27FC236}">
                <a16:creationId xmlns:a16="http://schemas.microsoft.com/office/drawing/2014/main" id="{17F4BD0D-8B24-C046-BFA4-6AE8507E69F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6B835E3E-2C88-BE52-0E4F-8AAF7452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8.1.3 The CPU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C20E44E-9656-D652-A89A-D018E28FCC11}"/>
              </a:ext>
            </a:extLst>
          </p:cNvPr>
          <p:cNvSpPr txBox="1">
            <a:spLocks/>
          </p:cNvSpPr>
          <p:nvPr/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Name </a:t>
            </a:r>
            <a:r>
              <a:rPr lang="en-US"/>
              <a:t>the parts of the CPU using the acronyms.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1D17F00-AA78-92B0-8EC2-04E87295BAFE}"/>
              </a:ext>
            </a:extLst>
          </p:cNvPr>
          <p:cNvSpPr txBox="1">
            <a:spLocks/>
          </p:cNvSpPr>
          <p:nvPr/>
        </p:nvSpPr>
        <p:spPr>
          <a:xfrm>
            <a:off x="10045921" y="2358780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Describe</a:t>
            </a:r>
            <a:r>
              <a:rPr lang="en-GB" b="1" i="1"/>
              <a:t> </a:t>
            </a:r>
            <a:r>
              <a:rPr lang="en-GB"/>
              <a:t>the ways you can increase the performance of the CPU.</a:t>
            </a:r>
            <a:endParaRPr lang="en-GB" b="1" i="1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5DC30B-A780-552F-A60C-5AD55102B883}"/>
              </a:ext>
            </a:extLst>
          </p:cNvPr>
          <p:cNvSpPr txBox="1">
            <a:spLocks/>
          </p:cNvSpPr>
          <p:nvPr/>
        </p:nvSpPr>
        <p:spPr>
          <a:xfrm>
            <a:off x="10045920" y="3661466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why each method of CPU performance makes the CPU quicker. </a:t>
            </a:r>
            <a:endParaRPr lang="en-GB" b="1" i="1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2A827EA-58BF-8AB5-DC6F-E9FDA7DDA33B}"/>
              </a:ext>
            </a:extLst>
          </p:cNvPr>
          <p:cNvSpPr txBox="1">
            <a:spLocks/>
          </p:cNvSpPr>
          <p:nvPr/>
        </p:nvSpPr>
        <p:spPr>
          <a:xfrm>
            <a:off x="9940784" y="5210963"/>
            <a:ext cx="2251216" cy="15232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Cores    Cache</a:t>
            </a:r>
          </a:p>
          <a:p>
            <a:pPr algn="ctr"/>
            <a:r>
              <a:rPr lang="en-GB"/>
              <a:t>Clock Speed</a:t>
            </a:r>
          </a:p>
          <a:p>
            <a:pPr algn="ctr"/>
            <a:r>
              <a:rPr lang="en-GB"/>
              <a:t>Cycles    Hertz    Access</a:t>
            </a:r>
          </a:p>
          <a:p>
            <a:pPr algn="ctr"/>
            <a:r>
              <a:rPr lang="en-GB"/>
              <a:t>CPU    CU    ALU</a:t>
            </a:r>
          </a:p>
          <a:p>
            <a:pPr algn="ctr"/>
            <a:r>
              <a:rPr lang="en-GB"/>
              <a:t>Instructions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9a2e7fe-bc0c-4b13-852e-7324c743c5b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4D21B94-15D6-4D92-9C31-2F505E22F88A}" vid="{E97799A3-AA53-4A43-94F2-A52BE1F49A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59333-07dd-4348-bbcd-8c36bc1bb6bd" xsi:nil="true"/>
    <lcf76f155ced4ddcb4097134ff3c332f xmlns="bfe72cd4-5de8-44f3-bcb9-4e4b78d78579">
      <Terms xmlns="http://schemas.microsoft.com/office/infopath/2007/PartnerControls"/>
    </lcf76f155ced4ddcb4097134ff3c332f>
    <dateaccessed xmlns="bfe72cd4-5de8-44f3-bcb9-4e4b78d785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F5C8DB6524E042920744FAE0E40E34" ma:contentTypeVersion="19" ma:contentTypeDescription="Create a new document." ma:contentTypeScope="" ma:versionID="3c206ed332f62e92deba2c2ea1e2b691">
  <xsd:schema xmlns:xsd="http://www.w3.org/2001/XMLSchema" xmlns:xs="http://www.w3.org/2001/XMLSchema" xmlns:p="http://schemas.microsoft.com/office/2006/metadata/properties" xmlns:ns2="bfe72cd4-5de8-44f3-bcb9-4e4b78d78579" xmlns:ns3="22f59333-07dd-4348-bbcd-8c36bc1bb6bd" targetNamespace="http://schemas.microsoft.com/office/2006/metadata/properties" ma:root="true" ma:fieldsID="f25f1f2ac146f81f81dd856febd1e444" ns2:_="" ns3:_="">
    <xsd:import namespace="bfe72cd4-5de8-44f3-bcb9-4e4b78d78579"/>
    <xsd:import namespace="22f59333-07dd-4348-bbcd-8c36bc1bb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dateaccesse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72cd4-5de8-44f3-bcb9-4e4b78d78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75037-beba-46f7-960b-ede9acc496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accessed" ma:index="25" nillable="true" ma:displayName="dateaccessed" ma:format="DateOnly" ma:internalName="dateaccessed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59333-07dd-4348-bbcd-8c36bc1bb6b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6c9b8a4-5ab7-4e38-b4de-59c7e1d65cc3}" ma:internalName="TaxCatchAll" ma:showField="CatchAllData" ma:web="22f59333-07dd-4348-bbcd-8c36bc1bb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1C5F79-FBCA-4F46-A1D7-BC99FE0F32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9CC6F5-B8E3-43F9-8A87-0F870821AA79}">
  <ds:schemaRefs>
    <ds:schemaRef ds:uri="22f59333-07dd-4348-bbcd-8c36bc1bb6bd"/>
    <ds:schemaRef ds:uri="401213bc-cf33-4e82-9359-cd35485a38d2"/>
    <ds:schemaRef ds:uri="aeaad743-c813-4b01-b7d5-36368adb10b7"/>
    <ds:schemaRef ds:uri="bfe72cd4-5de8-44f3-bcb9-4e4b78d785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7DDDFED-77EB-492E-99D3-F91E9F3B74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72cd4-5de8-44f3-bcb9-4e4b78d78579"/>
    <ds:schemaRef ds:uri="22f59333-07dd-4348-bbcd-8c36bc1bb6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KS3 Template</Template>
  <TotalTime>6</TotalTime>
  <Words>802</Words>
  <Application>Microsoft Office PowerPoint</Application>
  <PresentationFormat>Widescreen</PresentationFormat>
  <Paragraphs>150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8.1.3 The CPU</vt:lpstr>
      <vt:lpstr>8.1.3 The CPU</vt:lpstr>
      <vt:lpstr>8.1.3 The CPU</vt:lpstr>
      <vt:lpstr>8.1.3 The CPU</vt:lpstr>
      <vt:lpstr>8.1.3 The CPU</vt:lpstr>
      <vt:lpstr>8.1.3 The CPU</vt:lpstr>
      <vt:lpstr>8.1.3 The CPU</vt:lpstr>
      <vt:lpstr>PowerPoint Presentation</vt:lpstr>
      <vt:lpstr>8.1.3 The CPU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7.1.1 Introducing Computing</dc:title>
  <dc:creator>Amy Peebles</dc:creator>
  <cp:lastModifiedBy>Rebecca Loveday</cp:lastModifiedBy>
  <cp:revision>5</cp:revision>
  <dcterms:created xsi:type="dcterms:W3CDTF">2022-02-21T16:28:15Z</dcterms:created>
  <dcterms:modified xsi:type="dcterms:W3CDTF">2025-10-12T11:19:35Z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0x01010053F5C8DB6524E042920744FAE0E40E34</vt:lpwstr>
  </property>
  <property fmtid="{D5CDD505-2E9C-101B-9397-08002B2CF9AE}" pid="3" name="Order">
    <vt:r8>8700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